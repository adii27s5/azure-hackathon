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6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325880"/>
            <a:ext cx="10881360" cy="1828800"/>
          </a:xfrm>
          <a:prstGeom prst="rect">
            <a:avLst/>
          </a:prstGeom>
          <a:noFill/>
        </p:spPr>
        <p:txBody>
          <a:bodyPr wrap="none">
            <a:spAutoFit/>
          </a:bodyPr>
          <a:lstStyle/>
          <a:p>
            <a:pPr>
              <a:defRPr sz="3400" b="1">
                <a:solidFill>
                  <a:srgbClr val="143054"/>
                </a:solidFill>
              </a:defRPr>
            </a:pPr>
            <a:r>
              <a:t>Azure Load Testing for a</a:t>
            </a:r>
            <a:br/>
            <a:r>
              <a:t>Web Application Capacity Study</a:t>
            </a:r>
          </a:p>
          <a:p>
            <a:pPr>
              <a:spcBef>
                <a:spcPts val="1500"/>
              </a:spcBef>
              <a:defRPr sz="1900">
                <a:solidFill>
                  <a:srgbClr val="0078D4"/>
                </a:solidFill>
              </a:defRPr>
            </a:pPr>
            <a:r>
              <a:t>Performance Testing • Breaking Point • Scaling Recommendation</a:t>
            </a:r>
          </a:p>
        </p:txBody>
      </p:sp>
      <p:sp>
        <p:nvSpPr>
          <p:cNvPr id="4" name="Rounded Rectangle 3"/>
          <p:cNvSpPr/>
          <p:nvPr/>
        </p:nvSpPr>
        <p:spPr>
          <a:xfrm>
            <a:off x="685800" y="3886200"/>
            <a:ext cx="3246120" cy="114300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Objective</a:t>
            </a:r>
          </a:p>
          <a:p>
            <a:pPr>
              <a:spcBef>
                <a:spcPts val="700"/>
              </a:spcBef>
              <a:defRPr sz="1300">
                <a:solidFill>
                  <a:srgbClr val="232D37"/>
                </a:solidFill>
              </a:defRPr>
            </a:pPr>
            <a:r>
              <a:t>Determine the maximum safe workload.</a:t>
            </a:r>
          </a:p>
        </p:txBody>
      </p:sp>
      <p:sp>
        <p:nvSpPr>
          <p:cNvPr id="5" name="Rounded Rectangle 4"/>
          <p:cNvSpPr/>
          <p:nvPr/>
        </p:nvSpPr>
        <p:spPr>
          <a:xfrm>
            <a:off x="4480560" y="3886200"/>
            <a:ext cx="3246120" cy="114300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Technology</a:t>
            </a:r>
          </a:p>
          <a:p>
            <a:pPr>
              <a:spcBef>
                <a:spcPts val="700"/>
              </a:spcBef>
              <a:defRPr sz="1300">
                <a:solidFill>
                  <a:srgbClr val="232D37"/>
                </a:solidFill>
              </a:defRPr>
            </a:pPr>
            <a:r>
              <a:t>Microsoft Azure cloud services.</a:t>
            </a:r>
          </a:p>
        </p:txBody>
      </p:sp>
      <p:sp>
        <p:nvSpPr>
          <p:cNvPr id="6" name="Rounded Rectangle 5"/>
          <p:cNvSpPr/>
          <p:nvPr/>
        </p:nvSpPr>
        <p:spPr>
          <a:xfrm>
            <a:off x="8275320" y="3886200"/>
            <a:ext cx="3246120" cy="114300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Outcome</a:t>
            </a:r>
          </a:p>
          <a:p>
            <a:pPr>
              <a:spcBef>
                <a:spcPts val="700"/>
              </a:spcBef>
              <a:defRPr sz="1300">
                <a:solidFill>
                  <a:srgbClr val="232D37"/>
                </a:solidFill>
              </a:defRPr>
            </a:pPr>
            <a:r>
              <a:t>Recommend a scalable configuration.</a:t>
            </a:r>
          </a:p>
        </p:txBody>
      </p:sp>
      <p:sp>
        <p:nvSpPr>
          <p:cNvPr id="7" name="TextBox 6"/>
          <p:cNvSpPr txBox="1"/>
          <p:nvPr/>
        </p:nvSpPr>
        <p:spPr>
          <a:xfrm>
            <a:off x="685800" y="5715000"/>
            <a:ext cx="10789920" cy="457200"/>
          </a:xfrm>
          <a:prstGeom prst="rect">
            <a:avLst/>
          </a:prstGeom>
          <a:noFill/>
        </p:spPr>
        <p:txBody>
          <a:bodyPr wrap="none">
            <a:spAutoFit/>
          </a:bodyPr>
          <a:lstStyle/>
          <a:p>
            <a:pPr>
              <a:defRPr sz="1400">
                <a:solidFill>
                  <a:srgbClr val="69737D"/>
                </a:solidFill>
              </a:defRPr>
            </a:pPr>
            <a:r>
              <a:t>Project: 24CC3046-P056  |  3 Teams • 12 Students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1. Abstract</a:t>
            </a:r>
          </a:p>
        </p:txBody>
      </p:sp>
      <p:sp>
        <p:nvSpPr>
          <p:cNvPr id="3" name="TextBox 2"/>
          <p:cNvSpPr txBox="1"/>
          <p:nvPr/>
        </p:nvSpPr>
        <p:spPr>
          <a:xfrm>
            <a:off x="731520" y="1325880"/>
            <a:ext cx="10698480" cy="4846320"/>
          </a:xfrm>
          <a:prstGeom prst="rect">
            <a:avLst/>
          </a:prstGeom>
          <a:noFill/>
        </p:spPr>
        <p:txBody>
          <a:bodyPr wrap="square">
            <a:spAutoFit/>
          </a:bodyPr>
          <a:lstStyle/>
          <a:p>
            <a:pPr>
              <a:spcAft>
                <a:spcPts val="1000"/>
              </a:spcAft>
              <a:defRPr sz="1800" b="0">
                <a:solidFill>
                  <a:srgbClr val="232D37"/>
                </a:solidFill>
              </a:defRPr>
            </a:pPr>
            <a:r>
              <a:t>This project evaluates the performance, reliability, and scalability of a web application using Microsoft Azure.</a:t>
            </a:r>
          </a:p>
          <a:p>
            <a:pPr>
              <a:spcAft>
                <a:spcPts val="1000"/>
              </a:spcAft>
              <a:defRPr sz="1800" b="0">
                <a:solidFill>
                  <a:srgbClr val="232D37"/>
                </a:solidFill>
              </a:defRPr>
            </a:pPr>
            <a:r>
              <a:t>Azure App Service hosts the application, while Azure Load Testing generates controlled virtual-user traffic.</a:t>
            </a:r>
          </a:p>
          <a:p>
            <a:pPr>
              <a:spcAft>
                <a:spcPts val="1000"/>
              </a:spcAft>
              <a:defRPr sz="1800" b="0">
                <a:solidFill>
                  <a:srgbClr val="232D37"/>
                </a:solidFill>
              </a:defRPr>
            </a:pPr>
            <a:r>
              <a:t>Azure Monitor and Application Insights capture response time, request rate, failures, CPU, memory, and application behavior.</a:t>
            </a:r>
          </a:p>
          <a:p>
            <a:pPr>
              <a:spcAft>
                <a:spcPts val="1000"/>
              </a:spcAft>
              <a:defRPr sz="1800" b="0">
                <a:solidFill>
                  <a:srgbClr val="232D37"/>
                </a:solidFill>
              </a:defRPr>
            </a:pPr>
            <a:r>
              <a:t>Traffic is increased gradually to identify the breaking point of the current configuration.</a:t>
            </a:r>
          </a:p>
          <a:p>
            <a:pPr>
              <a:spcAft>
                <a:spcPts val="1000"/>
              </a:spcAft>
              <a:defRPr sz="1800" b="0">
                <a:solidFill>
                  <a:srgbClr val="232D37"/>
                </a:solidFill>
              </a:defRPr>
            </a:pPr>
            <a:r>
              <a:t>After identifying the bottleneck, scaling is configured and the same workload is tested again.</a:t>
            </a:r>
          </a:p>
          <a:p>
            <a:pPr>
              <a:spcAft>
                <a:spcPts val="1000"/>
              </a:spcAft>
              <a:defRPr sz="1800" b="0">
                <a:solidFill>
                  <a:srgbClr val="232D37"/>
                </a:solidFill>
              </a:defRPr>
            </a:pPr>
            <a:r>
              <a:t>The final recommendation is based on measured results, balancing performance and resource usage.</a:t>
            </a:r>
          </a:p>
        </p:txBody>
      </p:sp>
      <p:sp>
        <p:nvSpPr>
          <p:cNvPr id="4" name="Rectangle 3"/>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2. Problem Statement &amp; Objectives</a:t>
            </a:r>
          </a:p>
        </p:txBody>
      </p:sp>
      <p:sp>
        <p:nvSpPr>
          <p:cNvPr id="3" name="Rounded Rectangle 2"/>
          <p:cNvSpPr/>
          <p:nvPr/>
        </p:nvSpPr>
        <p:spPr>
          <a:xfrm>
            <a:off x="640080" y="1325880"/>
            <a:ext cx="5394960" cy="448056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Problem Statement</a:t>
            </a:r>
          </a:p>
          <a:p>
            <a:pPr>
              <a:spcBef>
                <a:spcPts val="700"/>
              </a:spcBef>
              <a:defRPr sz="1300">
                <a:solidFill>
                  <a:srgbClr val="232D37"/>
                </a:solidFill>
              </a:defRPr>
            </a:pPr>
            <a:r>
              <a:t>A web application may perform well at normal traffic but become slow or unstable when the number of users increases. The project determines where the current sizing becomes insufficient and identifies an appropriate Azure scaling strategy.</a:t>
            </a:r>
          </a:p>
        </p:txBody>
      </p:sp>
      <p:sp>
        <p:nvSpPr>
          <p:cNvPr id="4" name="Rounded Rectangle 3"/>
          <p:cNvSpPr/>
          <p:nvPr/>
        </p:nvSpPr>
        <p:spPr>
          <a:xfrm>
            <a:off x="6172200" y="1325880"/>
            <a:ext cx="5394960" cy="448056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Objectives</a:t>
            </a:r>
          </a:p>
          <a:p>
            <a:pPr>
              <a:spcBef>
                <a:spcPts val="700"/>
              </a:spcBef>
              <a:defRPr sz="1300">
                <a:solidFill>
                  <a:srgbClr val="232D37"/>
                </a:solidFill>
              </a:defRPr>
            </a:pPr>
            <a:r>
              <a:t>1. Deploy a web application on Azure.</a:t>
            </a:r>
            <a:br/>
            <a:r>
              <a:t>2. Generate controlled load.</a:t>
            </a:r>
            <a:br/>
            <a:r>
              <a:t>3. Measure performance under increasing traffic.</a:t>
            </a:r>
            <a:br/>
            <a:r>
              <a:t>4. Determine the breaking point.</a:t>
            </a:r>
            <a:br/>
            <a:r>
              <a:t>5. Identify the main bottleneck.</a:t>
            </a:r>
            <a:br/>
            <a:r>
              <a:t>6. Configure scaling.</a:t>
            </a:r>
            <a:br/>
            <a:r>
              <a:t>7. Compare before/after results.</a:t>
            </a:r>
          </a:p>
        </p:txBody>
      </p:sp>
      <p:sp>
        <p:nvSpPr>
          <p:cNvPr id="5" name="Rectangle 4"/>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3. Azure Architecture</a:t>
            </a:r>
          </a:p>
        </p:txBody>
      </p:sp>
      <p:sp>
        <p:nvSpPr>
          <p:cNvPr id="3" name="Rounded Rectangle 2"/>
          <p:cNvSpPr/>
          <p:nvPr/>
        </p:nvSpPr>
        <p:spPr>
          <a:xfrm>
            <a:off x="594360" y="1920240"/>
            <a:ext cx="2194560" cy="914400"/>
          </a:xfrm>
          <a:prstGeom prst="roundRect">
            <a:avLst/>
          </a:prstGeom>
          <a:solidFill>
            <a:srgbClr val="0078D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Azure Load</a:t>
            </a:r>
            <a:br/>
            <a:r>
              <a:t>Testing</a:t>
            </a:r>
          </a:p>
        </p:txBody>
      </p:sp>
      <p:sp>
        <p:nvSpPr>
          <p:cNvPr id="4" name="Rounded Rectangle 3"/>
          <p:cNvSpPr/>
          <p:nvPr/>
        </p:nvSpPr>
        <p:spPr>
          <a:xfrm>
            <a:off x="3657600" y="1920240"/>
            <a:ext cx="2286000" cy="914400"/>
          </a:xfrm>
          <a:prstGeom prst="roundRect">
            <a:avLst/>
          </a:prstGeom>
          <a:solidFill>
            <a:srgbClr val="14305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Azure App</a:t>
            </a:r>
            <a:br/>
            <a:r>
              <a:t>Service</a:t>
            </a:r>
          </a:p>
        </p:txBody>
      </p:sp>
      <p:sp>
        <p:nvSpPr>
          <p:cNvPr id="5" name="Rounded Rectangle 4"/>
          <p:cNvSpPr/>
          <p:nvPr/>
        </p:nvSpPr>
        <p:spPr>
          <a:xfrm>
            <a:off x="6903720" y="1325880"/>
            <a:ext cx="2286000" cy="914400"/>
          </a:xfrm>
          <a:prstGeom prst="roundRect">
            <a:avLst/>
          </a:prstGeom>
          <a:solidFill>
            <a:srgbClr val="107C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Application</a:t>
            </a:r>
            <a:br/>
            <a:r>
              <a:t>Insights</a:t>
            </a:r>
          </a:p>
        </p:txBody>
      </p:sp>
      <p:sp>
        <p:nvSpPr>
          <p:cNvPr id="6" name="Rounded Rectangle 5"/>
          <p:cNvSpPr/>
          <p:nvPr/>
        </p:nvSpPr>
        <p:spPr>
          <a:xfrm>
            <a:off x="6903720" y="2743200"/>
            <a:ext cx="2286000" cy="914400"/>
          </a:xfrm>
          <a:prstGeom prst="roundRect">
            <a:avLst/>
          </a:prstGeom>
          <a:solidFill>
            <a:srgbClr val="D2691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Azure Monitor</a:t>
            </a:r>
          </a:p>
        </p:txBody>
      </p:sp>
      <p:sp>
        <p:nvSpPr>
          <p:cNvPr id="7" name="Rounded Rectangle 6"/>
          <p:cNvSpPr/>
          <p:nvPr/>
        </p:nvSpPr>
        <p:spPr>
          <a:xfrm>
            <a:off x="10058400" y="1920240"/>
            <a:ext cx="1554480" cy="914400"/>
          </a:xfrm>
          <a:prstGeom prst="roundRect">
            <a:avLst/>
          </a:prstGeom>
          <a:solidFill>
            <a:srgbClr val="0078D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Autoscale</a:t>
            </a:r>
          </a:p>
        </p:txBody>
      </p:sp>
      <p:cxnSp>
        <p:nvCxnSpPr>
          <p:cNvPr id="8" name="Connector 7"/>
          <p:cNvCxnSpPr/>
          <p:nvPr/>
        </p:nvCxnSpPr>
        <p:spPr>
          <a:xfrm>
            <a:off x="2788920" y="2377440"/>
            <a:ext cx="868680" cy="0"/>
          </a:xfrm>
          <a:prstGeom prst="line">
            <a:avLst/>
          </a:prstGeom>
          <a:ln w="31750">
            <a:solidFill>
              <a:srgbClr val="14305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5943600" y="1783080"/>
            <a:ext cx="960120" cy="594360"/>
          </a:xfrm>
          <a:prstGeom prst="line">
            <a:avLst/>
          </a:prstGeom>
          <a:ln w="31750">
            <a:solidFill>
              <a:srgbClr val="143054"/>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43600" y="2377440"/>
            <a:ext cx="960120" cy="822960"/>
          </a:xfrm>
          <a:prstGeom prst="line">
            <a:avLst/>
          </a:prstGeom>
          <a:ln w="31750">
            <a:solidFill>
              <a:srgbClr val="143054"/>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189720" y="1828800"/>
            <a:ext cx="868680" cy="502920"/>
          </a:xfrm>
          <a:prstGeom prst="line">
            <a:avLst/>
          </a:prstGeom>
          <a:ln w="31750">
            <a:solidFill>
              <a:srgbClr val="14305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9189720" y="2423160"/>
            <a:ext cx="868680" cy="777240"/>
          </a:xfrm>
          <a:prstGeom prst="line">
            <a:avLst/>
          </a:prstGeom>
          <a:ln w="31750">
            <a:solidFill>
              <a:srgbClr val="14305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22960" y="4251960"/>
            <a:ext cx="10698480" cy="1371600"/>
          </a:xfrm>
          <a:prstGeom prst="rect">
            <a:avLst/>
          </a:prstGeom>
          <a:noFill/>
        </p:spPr>
        <p:txBody>
          <a:bodyPr wrap="none">
            <a:spAutoFit/>
          </a:bodyPr>
          <a:lstStyle/>
          <a:p>
            <a:pPr algn="ctr">
              <a:defRPr sz="2400" b="1">
                <a:solidFill>
                  <a:srgbClr val="143054"/>
                </a:solidFill>
              </a:defRPr>
            </a:pPr>
            <a:r>
              <a:t>Traffic → Application → Monitoring → Scaling Decision</a:t>
            </a:r>
          </a:p>
          <a:p>
            <a:pPr algn="ctr">
              <a:defRPr sz="1500">
                <a:solidFill>
                  <a:srgbClr val="69737D"/>
                </a:solidFill>
              </a:defRPr>
            </a:pPr>
            <a:r>
              <a:t>Use a staging environment or deployment slot for aggressive tests.</a:t>
            </a:r>
          </a:p>
        </p:txBody>
      </p:sp>
      <p:sp>
        <p:nvSpPr>
          <p:cNvPr id="14" name="Rectangle 13"/>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4. Azure Services Used</a:t>
            </a:r>
          </a:p>
        </p:txBody>
      </p:sp>
      <p:sp>
        <p:nvSpPr>
          <p:cNvPr id="3" name="Rounded Rectangle 2"/>
          <p:cNvSpPr/>
          <p:nvPr/>
        </p:nvSpPr>
        <p:spPr>
          <a:xfrm>
            <a:off x="594360" y="1280160"/>
            <a:ext cx="3429000" cy="160020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Azure Resource Group</a:t>
            </a:r>
          </a:p>
          <a:p>
            <a:pPr>
              <a:spcBef>
                <a:spcPts val="700"/>
              </a:spcBef>
              <a:defRPr sz="1300">
                <a:solidFill>
                  <a:srgbClr val="232D37"/>
                </a:solidFill>
              </a:defRPr>
            </a:pPr>
            <a:r>
              <a:t>Organizes all project resources.</a:t>
            </a:r>
          </a:p>
        </p:txBody>
      </p:sp>
      <p:sp>
        <p:nvSpPr>
          <p:cNvPr id="4" name="Rounded Rectangle 3"/>
          <p:cNvSpPr/>
          <p:nvPr/>
        </p:nvSpPr>
        <p:spPr>
          <a:xfrm>
            <a:off x="4389120" y="1280160"/>
            <a:ext cx="3429000" cy="160020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Azure App Service</a:t>
            </a:r>
          </a:p>
          <a:p>
            <a:pPr>
              <a:spcBef>
                <a:spcPts val="700"/>
              </a:spcBef>
              <a:defRPr sz="1300">
                <a:solidFill>
                  <a:srgbClr val="232D37"/>
                </a:solidFill>
              </a:defRPr>
            </a:pPr>
            <a:r>
              <a:t>Hosts the web application.</a:t>
            </a:r>
          </a:p>
        </p:txBody>
      </p:sp>
      <p:sp>
        <p:nvSpPr>
          <p:cNvPr id="5" name="Rounded Rectangle 4"/>
          <p:cNvSpPr/>
          <p:nvPr/>
        </p:nvSpPr>
        <p:spPr>
          <a:xfrm>
            <a:off x="8183880" y="1280160"/>
            <a:ext cx="3429000" cy="160020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Azure Load Testing</a:t>
            </a:r>
          </a:p>
          <a:p>
            <a:pPr>
              <a:spcBef>
                <a:spcPts val="700"/>
              </a:spcBef>
              <a:defRPr sz="1300">
                <a:solidFill>
                  <a:srgbClr val="232D37"/>
                </a:solidFill>
              </a:defRPr>
            </a:pPr>
            <a:r>
              <a:t>Creates controlled virtual-user traffic.</a:t>
            </a:r>
          </a:p>
        </p:txBody>
      </p:sp>
      <p:sp>
        <p:nvSpPr>
          <p:cNvPr id="6" name="Rounded Rectangle 5"/>
          <p:cNvSpPr/>
          <p:nvPr/>
        </p:nvSpPr>
        <p:spPr>
          <a:xfrm>
            <a:off x="594360" y="3429000"/>
            <a:ext cx="3429000" cy="160020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Application Insights</a:t>
            </a:r>
          </a:p>
          <a:p>
            <a:pPr>
              <a:spcBef>
                <a:spcPts val="700"/>
              </a:spcBef>
              <a:defRPr sz="1300">
                <a:solidFill>
                  <a:srgbClr val="232D37"/>
                </a:solidFill>
              </a:defRPr>
            </a:pPr>
            <a:r>
              <a:t>Tracks requests, latency, failures, and dependencies.</a:t>
            </a:r>
          </a:p>
        </p:txBody>
      </p:sp>
      <p:sp>
        <p:nvSpPr>
          <p:cNvPr id="7" name="Rounded Rectangle 6"/>
          <p:cNvSpPr/>
          <p:nvPr/>
        </p:nvSpPr>
        <p:spPr>
          <a:xfrm>
            <a:off x="4389120" y="3429000"/>
            <a:ext cx="3429000" cy="160020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Azure Monitor</a:t>
            </a:r>
          </a:p>
          <a:p>
            <a:pPr>
              <a:spcBef>
                <a:spcPts val="700"/>
              </a:spcBef>
              <a:defRPr sz="1300">
                <a:solidFill>
                  <a:srgbClr val="232D37"/>
                </a:solidFill>
              </a:defRPr>
            </a:pPr>
            <a:r>
              <a:t>Tracks infrastructure and platform metrics.</a:t>
            </a:r>
          </a:p>
        </p:txBody>
      </p:sp>
      <p:sp>
        <p:nvSpPr>
          <p:cNvPr id="8" name="Rounded Rectangle 7"/>
          <p:cNvSpPr/>
          <p:nvPr/>
        </p:nvSpPr>
        <p:spPr>
          <a:xfrm>
            <a:off x="8183880" y="3429000"/>
            <a:ext cx="3429000" cy="160020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Autoscale</a:t>
            </a:r>
          </a:p>
          <a:p>
            <a:pPr>
              <a:spcBef>
                <a:spcPts val="700"/>
              </a:spcBef>
              <a:defRPr sz="1300">
                <a:solidFill>
                  <a:srgbClr val="232D37"/>
                </a:solidFill>
              </a:defRPr>
            </a:pPr>
            <a:r>
              <a:t>Adds or removes application instances based on conditions.</a:t>
            </a:r>
          </a:p>
        </p:txBody>
      </p:sp>
      <p:sp>
        <p:nvSpPr>
          <p:cNvPr id="9" name="Rectangle 8"/>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5. Implementation Steps</a:t>
            </a:r>
          </a:p>
        </p:txBody>
      </p:sp>
      <p:sp>
        <p:nvSpPr>
          <p:cNvPr id="3" name="TextBox 2"/>
          <p:cNvSpPr txBox="1"/>
          <p:nvPr/>
        </p:nvSpPr>
        <p:spPr>
          <a:xfrm>
            <a:off x="731520" y="1234440"/>
            <a:ext cx="10698480" cy="4846320"/>
          </a:xfrm>
          <a:prstGeom prst="rect">
            <a:avLst/>
          </a:prstGeom>
          <a:noFill/>
        </p:spPr>
        <p:txBody>
          <a:bodyPr wrap="square">
            <a:spAutoFit/>
          </a:bodyPr>
          <a:lstStyle/>
          <a:p>
            <a:pPr>
              <a:spcAft>
                <a:spcPts val="1000"/>
              </a:spcAft>
              <a:defRPr sz="1700" b="0">
                <a:solidFill>
                  <a:srgbClr val="232D37"/>
                </a:solidFill>
              </a:defRPr>
            </a:pPr>
            <a:r>
              <a:t>Create an Azure Resource Group.</a:t>
            </a:r>
          </a:p>
          <a:p>
            <a:pPr>
              <a:spcAft>
                <a:spcPts val="1000"/>
              </a:spcAft>
              <a:defRPr sz="1700" b="0">
                <a:solidFill>
                  <a:srgbClr val="232D37"/>
                </a:solidFill>
              </a:defRPr>
            </a:pPr>
            <a:r>
              <a:t>Create an Azure App Service and deploy the web application.</a:t>
            </a:r>
          </a:p>
          <a:p>
            <a:pPr>
              <a:spcAft>
                <a:spcPts val="1000"/>
              </a:spcAft>
              <a:defRPr sz="1700" b="0">
                <a:solidFill>
                  <a:srgbClr val="232D37"/>
                </a:solidFill>
              </a:defRPr>
            </a:pPr>
            <a:r>
              <a:t>Enable Application Insights for application-level monitoring.</a:t>
            </a:r>
          </a:p>
          <a:p>
            <a:pPr>
              <a:spcAft>
                <a:spcPts val="1000"/>
              </a:spcAft>
              <a:defRPr sz="1700" b="0">
                <a:solidFill>
                  <a:srgbClr val="232D37"/>
                </a:solidFill>
              </a:defRPr>
            </a:pPr>
            <a:r>
              <a:t>Create an Azure Load Testing resource.</a:t>
            </a:r>
          </a:p>
          <a:p>
            <a:pPr>
              <a:spcAft>
                <a:spcPts val="1000"/>
              </a:spcAft>
              <a:defRPr sz="1700" b="0">
                <a:solidFill>
                  <a:srgbClr val="232D37"/>
                </a:solidFill>
              </a:defRPr>
            </a:pPr>
            <a:r>
              <a:t>Create a URL-based test for the application endpoint.</a:t>
            </a:r>
          </a:p>
          <a:p>
            <a:pPr>
              <a:spcAft>
                <a:spcPts val="1000"/>
              </a:spcAft>
              <a:defRPr sz="1700" b="0">
                <a:solidFill>
                  <a:srgbClr val="232D37"/>
                </a:solidFill>
              </a:defRPr>
            </a:pPr>
            <a:r>
              <a:t>Start with a small workload and increase users gradually.</a:t>
            </a:r>
          </a:p>
          <a:p>
            <a:pPr>
              <a:spcAft>
                <a:spcPts val="1000"/>
              </a:spcAft>
              <a:defRPr sz="1700" b="0">
                <a:solidFill>
                  <a:srgbClr val="232D37"/>
                </a:solidFill>
              </a:defRPr>
            </a:pPr>
            <a:r>
              <a:t>Record response time, throughput, errors, CPU, and memory.</a:t>
            </a:r>
          </a:p>
          <a:p>
            <a:pPr>
              <a:spcAft>
                <a:spcPts val="1000"/>
              </a:spcAft>
              <a:defRPr sz="1700" b="0">
                <a:solidFill>
                  <a:srgbClr val="232D37"/>
                </a:solidFill>
              </a:defRPr>
            </a:pPr>
            <a:r>
              <a:t>Repeat tests around the failure threshold to find the breaking point accurately.</a:t>
            </a:r>
          </a:p>
        </p:txBody>
      </p:sp>
      <p:sp>
        <p:nvSpPr>
          <p:cNvPr id="4" name="Rectangle 3"/>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6. Load Test Plan</a:t>
            </a:r>
          </a:p>
        </p:txBody>
      </p:sp>
      <p:sp>
        <p:nvSpPr>
          <p:cNvPr id="3" name="Rounded Rectangle 2"/>
          <p:cNvSpPr/>
          <p:nvPr/>
        </p:nvSpPr>
        <p:spPr>
          <a:xfrm>
            <a:off x="640080" y="1234440"/>
            <a:ext cx="3429000" cy="141732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Test 1</a:t>
            </a:r>
          </a:p>
          <a:p>
            <a:pPr>
              <a:spcBef>
                <a:spcPts val="700"/>
              </a:spcBef>
              <a:defRPr sz="1300">
                <a:solidFill>
                  <a:srgbClr val="232D37"/>
                </a:solidFill>
              </a:defRPr>
            </a:pPr>
            <a:r>
              <a:t>10 virtual users</a:t>
            </a:r>
            <a:br/>
            <a:r>
              <a:t>Baseline performance</a:t>
            </a:r>
          </a:p>
        </p:txBody>
      </p:sp>
      <p:sp>
        <p:nvSpPr>
          <p:cNvPr id="4" name="Rounded Rectangle 3"/>
          <p:cNvSpPr/>
          <p:nvPr/>
        </p:nvSpPr>
        <p:spPr>
          <a:xfrm>
            <a:off x="4389120" y="1234440"/>
            <a:ext cx="3429000" cy="141732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Test 2</a:t>
            </a:r>
          </a:p>
          <a:p>
            <a:pPr>
              <a:spcBef>
                <a:spcPts val="700"/>
              </a:spcBef>
              <a:defRPr sz="1300">
                <a:solidFill>
                  <a:srgbClr val="232D37"/>
                </a:solidFill>
              </a:defRPr>
            </a:pPr>
            <a:r>
              <a:t>25–50 users</a:t>
            </a:r>
            <a:br/>
            <a:r>
              <a:t>Low/normal load</a:t>
            </a:r>
          </a:p>
        </p:txBody>
      </p:sp>
      <p:sp>
        <p:nvSpPr>
          <p:cNvPr id="5" name="Rounded Rectangle 4"/>
          <p:cNvSpPr/>
          <p:nvPr/>
        </p:nvSpPr>
        <p:spPr>
          <a:xfrm>
            <a:off x="8138160" y="1234440"/>
            <a:ext cx="3429000" cy="141732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Test 3</a:t>
            </a:r>
          </a:p>
          <a:p>
            <a:pPr>
              <a:spcBef>
                <a:spcPts val="700"/>
              </a:spcBef>
              <a:defRPr sz="1300">
                <a:solidFill>
                  <a:srgbClr val="232D37"/>
                </a:solidFill>
              </a:defRPr>
            </a:pPr>
            <a:r>
              <a:t>100 users</a:t>
            </a:r>
            <a:br/>
            <a:r>
              <a:t>Higher load</a:t>
            </a:r>
          </a:p>
        </p:txBody>
      </p:sp>
      <p:sp>
        <p:nvSpPr>
          <p:cNvPr id="6" name="Rounded Rectangle 5"/>
          <p:cNvSpPr/>
          <p:nvPr/>
        </p:nvSpPr>
        <p:spPr>
          <a:xfrm>
            <a:off x="640080" y="3063240"/>
            <a:ext cx="3429000" cy="141732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Test 4</a:t>
            </a:r>
          </a:p>
          <a:p>
            <a:pPr>
              <a:spcBef>
                <a:spcPts val="700"/>
              </a:spcBef>
              <a:defRPr sz="1300">
                <a:solidFill>
                  <a:srgbClr val="232D37"/>
                </a:solidFill>
              </a:defRPr>
            </a:pPr>
            <a:r>
              <a:t>200 users</a:t>
            </a:r>
            <a:br/>
            <a:r>
              <a:t>Stress region</a:t>
            </a:r>
          </a:p>
        </p:txBody>
      </p:sp>
      <p:sp>
        <p:nvSpPr>
          <p:cNvPr id="7" name="Rounded Rectangle 6"/>
          <p:cNvSpPr/>
          <p:nvPr/>
        </p:nvSpPr>
        <p:spPr>
          <a:xfrm>
            <a:off x="4389120" y="3063240"/>
            <a:ext cx="3429000" cy="141732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Test 5</a:t>
            </a:r>
          </a:p>
          <a:p>
            <a:pPr>
              <a:spcBef>
                <a:spcPts val="700"/>
              </a:spcBef>
              <a:defRPr sz="1300">
                <a:solidFill>
                  <a:srgbClr val="232D37"/>
                </a:solidFill>
              </a:defRPr>
            </a:pPr>
            <a:r>
              <a:t>300–500 users</a:t>
            </a:r>
            <a:br/>
            <a:r>
              <a:t>Find degradation</a:t>
            </a:r>
          </a:p>
        </p:txBody>
      </p:sp>
      <p:sp>
        <p:nvSpPr>
          <p:cNvPr id="8" name="Rounded Rectangle 7"/>
          <p:cNvSpPr/>
          <p:nvPr/>
        </p:nvSpPr>
        <p:spPr>
          <a:xfrm>
            <a:off x="8138160" y="3063240"/>
            <a:ext cx="3429000" cy="141732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Validation</a:t>
            </a:r>
          </a:p>
          <a:p>
            <a:pPr>
              <a:spcBef>
                <a:spcPts val="700"/>
              </a:spcBef>
              <a:defRPr sz="1300">
                <a:solidFill>
                  <a:srgbClr val="232D37"/>
                </a:solidFill>
              </a:defRPr>
            </a:pPr>
            <a:r>
              <a:t>Repeat around threshold</a:t>
            </a:r>
            <a:br/>
            <a:r>
              <a:t>for accurate capacity</a:t>
            </a:r>
          </a:p>
        </p:txBody>
      </p:sp>
      <p:sp>
        <p:nvSpPr>
          <p:cNvPr id="9" name="TextBox 8"/>
          <p:cNvSpPr txBox="1"/>
          <p:nvPr/>
        </p:nvSpPr>
        <p:spPr>
          <a:xfrm>
            <a:off x="731520" y="5166360"/>
            <a:ext cx="10789920" cy="731520"/>
          </a:xfrm>
          <a:prstGeom prst="rect">
            <a:avLst/>
          </a:prstGeom>
          <a:noFill/>
        </p:spPr>
        <p:txBody>
          <a:bodyPr wrap="none">
            <a:spAutoFit/>
          </a:bodyPr>
          <a:lstStyle/>
          <a:p>
            <a:pPr algn="ctr">
              <a:defRPr sz="1700" b="1">
                <a:solidFill>
                  <a:srgbClr val="D2691E"/>
                </a:solidFill>
              </a:defRPr>
            </a:pPr>
            <a:r>
              <a:t>Use realistic user journeys and a staging environment whenever possible.</a:t>
            </a:r>
          </a:p>
        </p:txBody>
      </p:sp>
      <p:sp>
        <p:nvSpPr>
          <p:cNvPr id="10" name="Rectangle 9"/>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7. Performance Metrics &amp; Breaking Point</a:t>
            </a:r>
          </a:p>
        </p:txBody>
      </p:sp>
      <p:sp>
        <p:nvSpPr>
          <p:cNvPr id="3" name="Rounded Rectangle 2"/>
          <p:cNvSpPr/>
          <p:nvPr/>
        </p:nvSpPr>
        <p:spPr>
          <a:xfrm>
            <a:off x="594360" y="1234440"/>
            <a:ext cx="3429000" cy="141732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Response Time</a:t>
            </a:r>
          </a:p>
          <a:p>
            <a:pPr>
              <a:spcBef>
                <a:spcPts val="700"/>
              </a:spcBef>
              <a:defRPr sz="1300">
                <a:solidFill>
                  <a:srgbClr val="232D37"/>
                </a:solidFill>
              </a:defRPr>
            </a:pPr>
            <a:r>
              <a:t>How quickly the application responds.</a:t>
            </a:r>
          </a:p>
        </p:txBody>
      </p:sp>
      <p:sp>
        <p:nvSpPr>
          <p:cNvPr id="4" name="Rounded Rectangle 3"/>
          <p:cNvSpPr/>
          <p:nvPr/>
        </p:nvSpPr>
        <p:spPr>
          <a:xfrm>
            <a:off x="4389120" y="1234440"/>
            <a:ext cx="3429000" cy="141732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Error Rate</a:t>
            </a:r>
          </a:p>
          <a:p>
            <a:pPr>
              <a:spcBef>
                <a:spcPts val="700"/>
              </a:spcBef>
              <a:defRPr sz="1300">
                <a:solidFill>
                  <a:srgbClr val="232D37"/>
                </a:solidFill>
              </a:defRPr>
            </a:pPr>
            <a:r>
              <a:t>Percentage of failed requests.</a:t>
            </a:r>
          </a:p>
        </p:txBody>
      </p:sp>
      <p:sp>
        <p:nvSpPr>
          <p:cNvPr id="5" name="Rounded Rectangle 4"/>
          <p:cNvSpPr/>
          <p:nvPr/>
        </p:nvSpPr>
        <p:spPr>
          <a:xfrm>
            <a:off x="8183880" y="1234440"/>
            <a:ext cx="3429000" cy="141732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Throughput</a:t>
            </a:r>
          </a:p>
          <a:p>
            <a:pPr>
              <a:spcBef>
                <a:spcPts val="700"/>
              </a:spcBef>
              <a:defRPr sz="1300">
                <a:solidFill>
                  <a:srgbClr val="232D37"/>
                </a:solidFill>
              </a:defRPr>
            </a:pPr>
            <a:r>
              <a:t>Requests processed per unit time.</a:t>
            </a:r>
          </a:p>
        </p:txBody>
      </p:sp>
      <p:sp>
        <p:nvSpPr>
          <p:cNvPr id="6" name="Rounded Rectangle 5"/>
          <p:cNvSpPr/>
          <p:nvPr/>
        </p:nvSpPr>
        <p:spPr>
          <a:xfrm>
            <a:off x="594360" y="3063240"/>
            <a:ext cx="3429000" cy="141732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CPU / Memory</a:t>
            </a:r>
          </a:p>
          <a:p>
            <a:pPr>
              <a:spcBef>
                <a:spcPts val="700"/>
              </a:spcBef>
              <a:defRPr sz="1300">
                <a:solidFill>
                  <a:srgbClr val="232D37"/>
                </a:solidFill>
              </a:defRPr>
            </a:pPr>
            <a:r>
              <a:t>Resource utilization of the App Service.</a:t>
            </a:r>
          </a:p>
        </p:txBody>
      </p:sp>
      <p:sp>
        <p:nvSpPr>
          <p:cNvPr id="7" name="Rounded Rectangle 6"/>
          <p:cNvSpPr/>
          <p:nvPr/>
        </p:nvSpPr>
        <p:spPr>
          <a:xfrm>
            <a:off x="4389120" y="3063240"/>
            <a:ext cx="3429000" cy="141732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Availability</a:t>
            </a:r>
          </a:p>
          <a:p>
            <a:pPr>
              <a:spcBef>
                <a:spcPts val="700"/>
              </a:spcBef>
              <a:defRPr sz="1300">
                <a:solidFill>
                  <a:srgbClr val="232D37"/>
                </a:solidFill>
              </a:defRPr>
            </a:pPr>
            <a:r>
              <a:t>Whether the application remains accessible.</a:t>
            </a:r>
          </a:p>
        </p:txBody>
      </p:sp>
      <p:sp>
        <p:nvSpPr>
          <p:cNvPr id="8" name="Rounded Rectangle 7"/>
          <p:cNvSpPr/>
          <p:nvPr/>
        </p:nvSpPr>
        <p:spPr>
          <a:xfrm>
            <a:off x="2514600" y="4800600"/>
            <a:ext cx="7132320" cy="9601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D2691E"/>
                </a:solidFill>
              </a:defRPr>
            </a:pPr>
            <a:r>
              <a:t>Breaking Point</a:t>
            </a:r>
          </a:p>
          <a:p>
            <a:pPr>
              <a:spcBef>
                <a:spcPts val="700"/>
              </a:spcBef>
              <a:defRPr sz="1300">
                <a:solidFill>
                  <a:srgbClr val="232D37"/>
                </a:solidFill>
              </a:defRPr>
            </a:pPr>
            <a:r>
              <a:t>The traffic level at which defined performance criteria are no longer satisfied.</a:t>
            </a:r>
          </a:p>
        </p:txBody>
      </p:sp>
      <p:sp>
        <p:nvSpPr>
          <p:cNvPr id="9" name="Rectangle 8"/>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8. Example Result Analysis</a:t>
            </a:r>
          </a:p>
        </p:txBody>
      </p:sp>
      <p:sp>
        <p:nvSpPr>
          <p:cNvPr id="3" name="TextBox 2"/>
          <p:cNvSpPr txBox="1"/>
          <p:nvPr/>
        </p:nvSpPr>
        <p:spPr>
          <a:xfrm>
            <a:off x="530352" y="841248"/>
            <a:ext cx="10972800" cy="365760"/>
          </a:xfrm>
          <a:prstGeom prst="rect">
            <a:avLst/>
          </a:prstGeom>
          <a:noFill/>
        </p:spPr>
        <p:txBody>
          <a:bodyPr wrap="none">
            <a:spAutoFit/>
          </a:bodyPr>
          <a:lstStyle/>
          <a:p>
            <a:pPr>
              <a:defRPr sz="1200">
                <a:solidFill>
                  <a:srgbClr val="69737D"/>
                </a:solidFill>
              </a:defRPr>
            </a:pPr>
            <a:r>
              <a:t>Replace these illustrative values with your actual Azure test results.</a:t>
            </a:r>
          </a:p>
        </p:txBody>
      </p:sp>
      <p:graphicFrame>
        <p:nvGraphicFramePr>
          <p:cNvPr id="4" name="Table 3"/>
          <p:cNvGraphicFramePr>
            <a:graphicFrameLocks noGrp="1"/>
          </p:cNvGraphicFramePr>
          <p:nvPr/>
        </p:nvGraphicFramePr>
        <p:xfrm>
          <a:off x="914400" y="1417320"/>
          <a:ext cx="10332720" cy="3886200"/>
        </p:xfrm>
        <a:graphic>
          <a:graphicData uri="http://schemas.openxmlformats.org/drawingml/2006/table">
            <a:tbl>
              <a:tblPr firstRow="1" bandRow="1">
                <a:tableStyleId>{5C22544A-7EE6-4342-B048-85BDC9FD1C3A}</a:tableStyleId>
              </a:tblPr>
              <a:tblGrid>
                <a:gridCol w="2583180">
                  <a:extLst>
                    <a:ext uri="{9D8B030D-6E8A-4147-A177-3AD203B41FA5}">
                      <a16:colId xmlns:a16="http://schemas.microsoft.com/office/drawing/2014/main" val="20000"/>
                    </a:ext>
                  </a:extLst>
                </a:gridCol>
                <a:gridCol w="2583180">
                  <a:extLst>
                    <a:ext uri="{9D8B030D-6E8A-4147-A177-3AD203B41FA5}">
                      <a16:colId xmlns:a16="http://schemas.microsoft.com/office/drawing/2014/main" val="20001"/>
                    </a:ext>
                  </a:extLst>
                </a:gridCol>
                <a:gridCol w="2583180">
                  <a:extLst>
                    <a:ext uri="{9D8B030D-6E8A-4147-A177-3AD203B41FA5}">
                      <a16:colId xmlns:a16="http://schemas.microsoft.com/office/drawing/2014/main" val="20002"/>
                    </a:ext>
                  </a:extLst>
                </a:gridCol>
                <a:gridCol w="2583180">
                  <a:extLst>
                    <a:ext uri="{9D8B030D-6E8A-4147-A177-3AD203B41FA5}">
                      <a16:colId xmlns:a16="http://schemas.microsoft.com/office/drawing/2014/main" val="20003"/>
                    </a:ext>
                  </a:extLst>
                </a:gridCol>
              </a:tblGrid>
              <a:tr h="647700">
                <a:tc>
                  <a:txBody>
                    <a:bodyPr/>
                    <a:lstStyle/>
                    <a:p>
                      <a:pPr>
                        <a:defRPr sz="1500" b="1">
                          <a:solidFill>
                            <a:srgbClr val="FFFFFF"/>
                          </a:solidFill>
                        </a:defRPr>
                      </a:pPr>
                      <a:r>
                        <a:t>Virtual Users</a:t>
                      </a:r>
                    </a:p>
                  </a:txBody>
                  <a:tcPr>
                    <a:solidFill>
                      <a:srgbClr val="143054"/>
                    </a:solidFill>
                  </a:tcPr>
                </a:tc>
                <a:tc>
                  <a:txBody>
                    <a:bodyPr/>
                    <a:lstStyle/>
                    <a:p>
                      <a:pPr>
                        <a:defRPr sz="1500" b="1">
                          <a:solidFill>
                            <a:srgbClr val="FFFFFF"/>
                          </a:solidFill>
                        </a:defRPr>
                      </a:pPr>
                      <a:r>
                        <a:t>Avg Response</a:t>
                      </a:r>
                    </a:p>
                  </a:txBody>
                  <a:tcPr>
                    <a:solidFill>
                      <a:srgbClr val="143054"/>
                    </a:solidFill>
                  </a:tcPr>
                </a:tc>
                <a:tc>
                  <a:txBody>
                    <a:bodyPr/>
                    <a:lstStyle/>
                    <a:p>
                      <a:pPr>
                        <a:defRPr sz="1500" b="1">
                          <a:solidFill>
                            <a:srgbClr val="FFFFFF"/>
                          </a:solidFill>
                        </a:defRPr>
                      </a:pPr>
                      <a:r>
                        <a:t>Error Rate</a:t>
                      </a:r>
                    </a:p>
                  </a:txBody>
                  <a:tcPr>
                    <a:solidFill>
                      <a:srgbClr val="143054"/>
                    </a:solidFill>
                  </a:tcPr>
                </a:tc>
                <a:tc>
                  <a:txBody>
                    <a:bodyPr/>
                    <a:lstStyle/>
                    <a:p>
                      <a:pPr>
                        <a:defRPr sz="1500" b="1">
                          <a:solidFill>
                            <a:srgbClr val="FFFFFF"/>
                          </a:solidFill>
                        </a:defRPr>
                      </a:pPr>
                      <a:r>
                        <a:t>CPU</a:t>
                      </a:r>
                    </a:p>
                  </a:txBody>
                  <a:tcPr>
                    <a:solidFill>
                      <a:srgbClr val="143054"/>
                    </a:solidFill>
                  </a:tcPr>
                </a:tc>
                <a:extLst>
                  <a:ext uri="{0D108BD9-81ED-4DB2-BD59-A6C34878D82A}">
                    <a16:rowId xmlns:a16="http://schemas.microsoft.com/office/drawing/2014/main" val="10000"/>
                  </a:ext>
                </a:extLst>
              </a:tr>
              <a:tr h="647700">
                <a:tc>
                  <a:txBody>
                    <a:bodyPr/>
                    <a:lstStyle/>
                    <a:p>
                      <a:pPr>
                        <a:defRPr sz="1400">
                          <a:solidFill>
                            <a:srgbClr val="232D37"/>
                          </a:solidFill>
                        </a:defRPr>
                      </a:pPr>
                      <a:r>
                        <a:t>10</a:t>
                      </a:r>
                    </a:p>
                  </a:txBody>
                  <a:tcPr>
                    <a:solidFill>
                      <a:srgbClr val="F0F6FC"/>
                    </a:solidFill>
                  </a:tcPr>
                </a:tc>
                <a:tc>
                  <a:txBody>
                    <a:bodyPr/>
                    <a:lstStyle/>
                    <a:p>
                      <a:pPr>
                        <a:defRPr sz="1400">
                          <a:solidFill>
                            <a:srgbClr val="232D37"/>
                          </a:solidFill>
                        </a:defRPr>
                      </a:pPr>
                      <a:r>
                        <a:t>300 ms</a:t>
                      </a:r>
                    </a:p>
                  </a:txBody>
                  <a:tcPr>
                    <a:solidFill>
                      <a:srgbClr val="F0F6FC"/>
                    </a:solidFill>
                  </a:tcPr>
                </a:tc>
                <a:tc>
                  <a:txBody>
                    <a:bodyPr/>
                    <a:lstStyle/>
                    <a:p>
                      <a:pPr>
                        <a:defRPr sz="1400">
                          <a:solidFill>
                            <a:srgbClr val="232D37"/>
                          </a:solidFill>
                        </a:defRPr>
                      </a:pPr>
                      <a:r>
                        <a:t>0.0%</a:t>
                      </a:r>
                    </a:p>
                  </a:txBody>
                  <a:tcPr>
                    <a:solidFill>
                      <a:srgbClr val="F0F6FC"/>
                    </a:solidFill>
                  </a:tcPr>
                </a:tc>
                <a:tc>
                  <a:txBody>
                    <a:bodyPr/>
                    <a:lstStyle/>
                    <a:p>
                      <a:pPr>
                        <a:defRPr sz="1400">
                          <a:solidFill>
                            <a:srgbClr val="232D37"/>
                          </a:solidFill>
                        </a:defRPr>
                      </a:pPr>
                      <a:r>
                        <a:t>20%</a:t>
                      </a:r>
                    </a:p>
                  </a:txBody>
                  <a:tcPr>
                    <a:solidFill>
                      <a:srgbClr val="F0F6FC"/>
                    </a:solidFill>
                  </a:tcPr>
                </a:tc>
                <a:extLst>
                  <a:ext uri="{0D108BD9-81ED-4DB2-BD59-A6C34878D82A}">
                    <a16:rowId xmlns:a16="http://schemas.microsoft.com/office/drawing/2014/main" val="10001"/>
                  </a:ext>
                </a:extLst>
              </a:tr>
              <a:tr h="647700">
                <a:tc>
                  <a:txBody>
                    <a:bodyPr/>
                    <a:lstStyle/>
                    <a:p>
                      <a:pPr>
                        <a:defRPr sz="1400">
                          <a:solidFill>
                            <a:srgbClr val="232D37"/>
                          </a:solidFill>
                        </a:defRPr>
                      </a:pPr>
                      <a:r>
                        <a:t>50</a:t>
                      </a:r>
                    </a:p>
                  </a:txBody>
                  <a:tcPr>
                    <a:solidFill>
                      <a:srgbClr val="FFFFFF"/>
                    </a:solidFill>
                  </a:tcPr>
                </a:tc>
                <a:tc>
                  <a:txBody>
                    <a:bodyPr/>
                    <a:lstStyle/>
                    <a:p>
                      <a:pPr>
                        <a:defRPr sz="1400">
                          <a:solidFill>
                            <a:srgbClr val="232D37"/>
                          </a:solidFill>
                        </a:defRPr>
                      </a:pPr>
                      <a:r>
                        <a:t>650 ms</a:t>
                      </a:r>
                    </a:p>
                  </a:txBody>
                  <a:tcPr>
                    <a:solidFill>
                      <a:srgbClr val="FFFFFF"/>
                    </a:solidFill>
                  </a:tcPr>
                </a:tc>
                <a:tc>
                  <a:txBody>
                    <a:bodyPr/>
                    <a:lstStyle/>
                    <a:p>
                      <a:pPr>
                        <a:defRPr sz="1400">
                          <a:solidFill>
                            <a:srgbClr val="232D37"/>
                          </a:solidFill>
                        </a:defRPr>
                      </a:pPr>
                      <a:r>
                        <a:t>0.1%</a:t>
                      </a:r>
                    </a:p>
                  </a:txBody>
                  <a:tcPr>
                    <a:solidFill>
                      <a:srgbClr val="FFFFFF"/>
                    </a:solidFill>
                  </a:tcPr>
                </a:tc>
                <a:tc>
                  <a:txBody>
                    <a:bodyPr/>
                    <a:lstStyle/>
                    <a:p>
                      <a:pPr>
                        <a:defRPr sz="1400">
                          <a:solidFill>
                            <a:srgbClr val="232D37"/>
                          </a:solidFill>
                        </a:defRPr>
                      </a:pPr>
                      <a:r>
                        <a:t>48%</a:t>
                      </a:r>
                    </a:p>
                  </a:txBody>
                  <a:tcPr>
                    <a:solidFill>
                      <a:srgbClr val="FFFFFF"/>
                    </a:solidFill>
                  </a:tcPr>
                </a:tc>
                <a:extLst>
                  <a:ext uri="{0D108BD9-81ED-4DB2-BD59-A6C34878D82A}">
                    <a16:rowId xmlns:a16="http://schemas.microsoft.com/office/drawing/2014/main" val="10002"/>
                  </a:ext>
                </a:extLst>
              </a:tr>
              <a:tr h="647700">
                <a:tc>
                  <a:txBody>
                    <a:bodyPr/>
                    <a:lstStyle/>
                    <a:p>
                      <a:pPr>
                        <a:defRPr sz="1400">
                          <a:solidFill>
                            <a:srgbClr val="232D37"/>
                          </a:solidFill>
                        </a:defRPr>
                      </a:pPr>
                      <a:r>
                        <a:t>100</a:t>
                      </a:r>
                    </a:p>
                  </a:txBody>
                  <a:tcPr>
                    <a:solidFill>
                      <a:srgbClr val="F0F6FC"/>
                    </a:solidFill>
                  </a:tcPr>
                </a:tc>
                <a:tc>
                  <a:txBody>
                    <a:bodyPr/>
                    <a:lstStyle/>
                    <a:p>
                      <a:pPr>
                        <a:defRPr sz="1400">
                          <a:solidFill>
                            <a:srgbClr val="232D37"/>
                          </a:solidFill>
                        </a:defRPr>
                      </a:pPr>
                      <a:r>
                        <a:t>1.1 s</a:t>
                      </a:r>
                    </a:p>
                  </a:txBody>
                  <a:tcPr>
                    <a:solidFill>
                      <a:srgbClr val="F0F6FC"/>
                    </a:solidFill>
                  </a:tcPr>
                </a:tc>
                <a:tc>
                  <a:txBody>
                    <a:bodyPr/>
                    <a:lstStyle/>
                    <a:p>
                      <a:pPr>
                        <a:defRPr sz="1400">
                          <a:solidFill>
                            <a:srgbClr val="232D37"/>
                          </a:solidFill>
                        </a:defRPr>
                      </a:pPr>
                      <a:r>
                        <a:t>0.3%</a:t>
                      </a:r>
                    </a:p>
                  </a:txBody>
                  <a:tcPr>
                    <a:solidFill>
                      <a:srgbClr val="F0F6FC"/>
                    </a:solidFill>
                  </a:tcPr>
                </a:tc>
                <a:tc>
                  <a:txBody>
                    <a:bodyPr/>
                    <a:lstStyle/>
                    <a:p>
                      <a:pPr>
                        <a:defRPr sz="1400">
                          <a:solidFill>
                            <a:srgbClr val="232D37"/>
                          </a:solidFill>
                        </a:defRPr>
                      </a:pPr>
                      <a:r>
                        <a:t>67%</a:t>
                      </a:r>
                    </a:p>
                  </a:txBody>
                  <a:tcPr>
                    <a:solidFill>
                      <a:srgbClr val="F0F6FC"/>
                    </a:solidFill>
                  </a:tcPr>
                </a:tc>
                <a:extLst>
                  <a:ext uri="{0D108BD9-81ED-4DB2-BD59-A6C34878D82A}">
                    <a16:rowId xmlns:a16="http://schemas.microsoft.com/office/drawing/2014/main" val="10003"/>
                  </a:ext>
                </a:extLst>
              </a:tr>
              <a:tr h="647700">
                <a:tc>
                  <a:txBody>
                    <a:bodyPr/>
                    <a:lstStyle/>
                    <a:p>
                      <a:pPr>
                        <a:defRPr sz="1400">
                          <a:solidFill>
                            <a:srgbClr val="232D37"/>
                          </a:solidFill>
                        </a:defRPr>
                      </a:pPr>
                      <a:r>
                        <a:t>200</a:t>
                      </a:r>
                    </a:p>
                  </a:txBody>
                  <a:tcPr>
                    <a:solidFill>
                      <a:srgbClr val="FFFFFF"/>
                    </a:solidFill>
                  </a:tcPr>
                </a:tc>
                <a:tc>
                  <a:txBody>
                    <a:bodyPr/>
                    <a:lstStyle/>
                    <a:p>
                      <a:pPr>
                        <a:defRPr sz="1400">
                          <a:solidFill>
                            <a:srgbClr val="232D37"/>
                          </a:solidFill>
                        </a:defRPr>
                      </a:pPr>
                      <a:r>
                        <a:t>2.8 s</a:t>
                      </a:r>
                    </a:p>
                  </a:txBody>
                  <a:tcPr>
                    <a:solidFill>
                      <a:srgbClr val="FFFFFF"/>
                    </a:solidFill>
                  </a:tcPr>
                </a:tc>
                <a:tc>
                  <a:txBody>
                    <a:bodyPr/>
                    <a:lstStyle/>
                    <a:p>
                      <a:pPr>
                        <a:defRPr sz="1400">
                          <a:solidFill>
                            <a:srgbClr val="232D37"/>
                          </a:solidFill>
                        </a:defRPr>
                      </a:pPr>
                      <a:r>
                        <a:t>2.1%</a:t>
                      </a:r>
                    </a:p>
                  </a:txBody>
                  <a:tcPr>
                    <a:solidFill>
                      <a:srgbClr val="FFFFFF"/>
                    </a:solidFill>
                  </a:tcPr>
                </a:tc>
                <a:tc>
                  <a:txBody>
                    <a:bodyPr/>
                    <a:lstStyle/>
                    <a:p>
                      <a:pPr>
                        <a:defRPr sz="1400">
                          <a:solidFill>
                            <a:srgbClr val="232D37"/>
                          </a:solidFill>
                        </a:defRPr>
                      </a:pPr>
                      <a:r>
                        <a:t>86%</a:t>
                      </a:r>
                    </a:p>
                  </a:txBody>
                  <a:tcPr>
                    <a:solidFill>
                      <a:srgbClr val="FFFFFF"/>
                    </a:solidFill>
                  </a:tcPr>
                </a:tc>
                <a:extLst>
                  <a:ext uri="{0D108BD9-81ED-4DB2-BD59-A6C34878D82A}">
                    <a16:rowId xmlns:a16="http://schemas.microsoft.com/office/drawing/2014/main" val="10004"/>
                  </a:ext>
                </a:extLst>
              </a:tr>
              <a:tr h="647700">
                <a:tc>
                  <a:txBody>
                    <a:bodyPr/>
                    <a:lstStyle/>
                    <a:p>
                      <a:pPr>
                        <a:defRPr sz="1400">
                          <a:solidFill>
                            <a:srgbClr val="232D37"/>
                          </a:solidFill>
                        </a:defRPr>
                      </a:pPr>
                      <a:r>
                        <a:t>500</a:t>
                      </a:r>
                    </a:p>
                  </a:txBody>
                  <a:tcPr>
                    <a:solidFill>
                      <a:srgbClr val="F0F6FC"/>
                    </a:solidFill>
                  </a:tcPr>
                </a:tc>
                <a:tc>
                  <a:txBody>
                    <a:bodyPr/>
                    <a:lstStyle/>
                    <a:p>
                      <a:pPr>
                        <a:defRPr sz="1400">
                          <a:solidFill>
                            <a:srgbClr val="232D37"/>
                          </a:solidFill>
                        </a:defRPr>
                      </a:pPr>
                      <a:r>
                        <a:t>6.5 s</a:t>
                      </a:r>
                    </a:p>
                  </a:txBody>
                  <a:tcPr>
                    <a:solidFill>
                      <a:srgbClr val="F0F6FC"/>
                    </a:solidFill>
                  </a:tcPr>
                </a:tc>
                <a:tc>
                  <a:txBody>
                    <a:bodyPr/>
                    <a:lstStyle/>
                    <a:p>
                      <a:pPr>
                        <a:defRPr sz="1400">
                          <a:solidFill>
                            <a:srgbClr val="232D37"/>
                          </a:solidFill>
                        </a:defRPr>
                      </a:pPr>
                      <a:r>
                        <a:t>8.7%</a:t>
                      </a:r>
                    </a:p>
                  </a:txBody>
                  <a:tcPr>
                    <a:solidFill>
                      <a:srgbClr val="F0F6FC"/>
                    </a:solidFill>
                  </a:tcPr>
                </a:tc>
                <a:tc>
                  <a:txBody>
                    <a:bodyPr/>
                    <a:lstStyle/>
                    <a:p>
                      <a:pPr>
                        <a:defRPr sz="1400">
                          <a:solidFill>
                            <a:srgbClr val="232D37"/>
                          </a:solidFill>
                        </a:defRPr>
                      </a:pPr>
                      <a:r>
                        <a:t>98%</a:t>
                      </a:r>
                    </a:p>
                  </a:txBody>
                  <a:tcPr>
                    <a:solidFill>
                      <a:srgbClr val="F0F6FC"/>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914400" y="5532120"/>
            <a:ext cx="10332720" cy="594360"/>
          </a:xfrm>
          <a:prstGeom prst="rect">
            <a:avLst/>
          </a:prstGeom>
          <a:noFill/>
        </p:spPr>
        <p:txBody>
          <a:bodyPr wrap="none">
            <a:spAutoFit/>
          </a:bodyPr>
          <a:lstStyle/>
          <a:p>
            <a:pPr>
              <a:defRPr sz="1400" b="1">
                <a:solidFill>
                  <a:srgbClr val="D2691E"/>
                </a:solidFill>
              </a:defRPr>
            </a:pPr>
            <a:r>
              <a:t>Illustration: if the project threshold is &lt;2 s response time and &lt;1% errors, degradation begins between 100 and 200 users.</a:t>
            </a:r>
          </a:p>
        </p:txBody>
      </p:sp>
      <p:sp>
        <p:nvSpPr>
          <p:cNvPr id="6" name="Rectangle 5"/>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9. Scaling Strategy</a:t>
            </a:r>
          </a:p>
        </p:txBody>
      </p:sp>
      <p:sp>
        <p:nvSpPr>
          <p:cNvPr id="3" name="Rounded Rectangle 2"/>
          <p:cNvSpPr/>
          <p:nvPr/>
        </p:nvSpPr>
        <p:spPr>
          <a:xfrm>
            <a:off x="640080" y="1234440"/>
            <a:ext cx="5303520" cy="429768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Before Scaling</a:t>
            </a:r>
          </a:p>
          <a:p>
            <a:pPr>
              <a:spcBef>
                <a:spcPts val="700"/>
              </a:spcBef>
              <a:defRPr sz="1300">
                <a:solidFill>
                  <a:srgbClr val="232D37"/>
                </a:solidFill>
              </a:defRPr>
            </a:pPr>
            <a:r>
              <a:t>App Service</a:t>
            </a:r>
            <a:br/>
            <a:r>
              <a:t>│</a:t>
            </a:r>
            <a:br/>
            <a:r>
              <a:t>└── Instance 1</a:t>
            </a:r>
            <a:br/>
            <a:br/>
            <a:r>
              <a:t>High traffic increases CPU, response time, and failures.</a:t>
            </a:r>
            <a:br/>
            <a:br/>
            <a:r>
              <a:t>Goal: identify the capacity limit of the original configuration.</a:t>
            </a:r>
          </a:p>
        </p:txBody>
      </p:sp>
      <p:sp>
        <p:nvSpPr>
          <p:cNvPr id="4" name="Rounded Rectangle 3"/>
          <p:cNvSpPr/>
          <p:nvPr/>
        </p:nvSpPr>
        <p:spPr>
          <a:xfrm>
            <a:off x="6217920" y="1234440"/>
            <a:ext cx="5303520" cy="429768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After Scaling</a:t>
            </a:r>
          </a:p>
          <a:p>
            <a:pPr>
              <a:spcBef>
                <a:spcPts val="700"/>
              </a:spcBef>
              <a:defRPr sz="1300">
                <a:solidFill>
                  <a:srgbClr val="232D37"/>
                </a:solidFill>
              </a:defRPr>
            </a:pPr>
            <a:r>
              <a:t>App Service</a:t>
            </a:r>
            <a:br/>
            <a:r>
              <a:t>├── Instance 1</a:t>
            </a:r>
            <a:br/>
            <a:r>
              <a:t>├── Instance 2</a:t>
            </a:r>
            <a:br/>
            <a:r>
              <a:t>└── Instance 3</a:t>
            </a:r>
            <a:br/>
            <a:br/>
            <a:r>
              <a:t>Use scale-out/autoscale to add instances when demand rises and remove them when demand falls.</a:t>
            </a:r>
          </a:p>
        </p:txBody>
      </p:sp>
      <p:sp>
        <p:nvSpPr>
          <p:cNvPr id="5" name="TextBox 4"/>
          <p:cNvSpPr txBox="1"/>
          <p:nvPr/>
        </p:nvSpPr>
        <p:spPr>
          <a:xfrm>
            <a:off x="1828800" y="5715000"/>
            <a:ext cx="8503920" cy="457200"/>
          </a:xfrm>
          <a:prstGeom prst="rect">
            <a:avLst/>
          </a:prstGeom>
          <a:noFill/>
        </p:spPr>
        <p:txBody>
          <a:bodyPr wrap="none">
            <a:spAutoFit/>
          </a:bodyPr>
          <a:lstStyle/>
          <a:p>
            <a:pPr algn="ctr">
              <a:defRPr sz="1500" b="1">
                <a:solidFill>
                  <a:srgbClr val="107C10"/>
                </a:solidFill>
              </a:defRPr>
            </a:pPr>
            <a:r>
              <a:t>Example rule: scale out when CPU remains above a measured threshold.</a:t>
            </a:r>
          </a:p>
        </p:txBody>
      </p:sp>
      <p:sp>
        <p:nvSpPr>
          <p:cNvPr id="6" name="Rectangle 5"/>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10. Before vs After Scaling</a:t>
            </a:r>
          </a:p>
        </p:txBody>
      </p:sp>
      <p:graphicFrame>
        <p:nvGraphicFramePr>
          <p:cNvPr id="3" name="Table 2"/>
          <p:cNvGraphicFramePr>
            <a:graphicFrameLocks noGrp="1"/>
          </p:cNvGraphicFramePr>
          <p:nvPr/>
        </p:nvGraphicFramePr>
        <p:xfrm>
          <a:off x="1097280" y="1325880"/>
          <a:ext cx="9966960" cy="4297680"/>
        </p:xfrm>
        <a:graphic>
          <a:graphicData uri="http://schemas.openxmlformats.org/drawingml/2006/table">
            <a:tbl>
              <a:tblPr firstRow="1" bandRow="1">
                <a:tableStyleId>{5C22544A-7EE6-4342-B048-85BDC9FD1C3A}</a:tableStyleId>
              </a:tblPr>
              <a:tblGrid>
                <a:gridCol w="3322320">
                  <a:extLst>
                    <a:ext uri="{9D8B030D-6E8A-4147-A177-3AD203B41FA5}">
                      <a16:colId xmlns:a16="http://schemas.microsoft.com/office/drawing/2014/main" val="20000"/>
                    </a:ext>
                  </a:extLst>
                </a:gridCol>
                <a:gridCol w="3322320">
                  <a:extLst>
                    <a:ext uri="{9D8B030D-6E8A-4147-A177-3AD203B41FA5}">
                      <a16:colId xmlns:a16="http://schemas.microsoft.com/office/drawing/2014/main" val="20001"/>
                    </a:ext>
                  </a:extLst>
                </a:gridCol>
                <a:gridCol w="3322320">
                  <a:extLst>
                    <a:ext uri="{9D8B030D-6E8A-4147-A177-3AD203B41FA5}">
                      <a16:colId xmlns:a16="http://schemas.microsoft.com/office/drawing/2014/main" val="20002"/>
                    </a:ext>
                  </a:extLst>
                </a:gridCol>
              </a:tblGrid>
              <a:tr h="716280">
                <a:tc>
                  <a:txBody>
                    <a:bodyPr/>
                    <a:lstStyle/>
                    <a:p>
                      <a:pPr>
                        <a:defRPr sz="1600" b="1">
                          <a:solidFill>
                            <a:srgbClr val="FFFFFF"/>
                          </a:solidFill>
                        </a:defRPr>
                      </a:pPr>
                      <a:r>
                        <a:t>Metric</a:t>
                      </a:r>
                    </a:p>
                  </a:txBody>
                  <a:tcPr>
                    <a:solidFill>
                      <a:srgbClr val="143054"/>
                    </a:solidFill>
                  </a:tcPr>
                </a:tc>
                <a:tc>
                  <a:txBody>
                    <a:bodyPr/>
                    <a:lstStyle/>
                    <a:p>
                      <a:pPr>
                        <a:defRPr sz="1600" b="1">
                          <a:solidFill>
                            <a:srgbClr val="FFFFFF"/>
                          </a:solidFill>
                        </a:defRPr>
                      </a:pPr>
                      <a:r>
                        <a:t>Before</a:t>
                      </a:r>
                    </a:p>
                  </a:txBody>
                  <a:tcPr>
                    <a:solidFill>
                      <a:srgbClr val="143054"/>
                    </a:solidFill>
                  </a:tcPr>
                </a:tc>
                <a:tc>
                  <a:txBody>
                    <a:bodyPr/>
                    <a:lstStyle/>
                    <a:p>
                      <a:pPr>
                        <a:defRPr sz="1600" b="1">
                          <a:solidFill>
                            <a:srgbClr val="FFFFFF"/>
                          </a:solidFill>
                        </a:defRPr>
                      </a:pPr>
                      <a:r>
                        <a:t>After</a:t>
                      </a:r>
                    </a:p>
                  </a:txBody>
                  <a:tcPr>
                    <a:solidFill>
                      <a:srgbClr val="143054"/>
                    </a:solidFill>
                  </a:tcPr>
                </a:tc>
                <a:extLst>
                  <a:ext uri="{0D108BD9-81ED-4DB2-BD59-A6C34878D82A}">
                    <a16:rowId xmlns:a16="http://schemas.microsoft.com/office/drawing/2014/main" val="10000"/>
                  </a:ext>
                </a:extLst>
              </a:tr>
              <a:tr h="716280">
                <a:tc>
                  <a:txBody>
                    <a:bodyPr/>
                    <a:lstStyle/>
                    <a:p>
                      <a:pPr>
                        <a:defRPr sz="1500">
                          <a:solidFill>
                            <a:srgbClr val="232D37"/>
                          </a:solidFill>
                        </a:defRPr>
                      </a:pPr>
                      <a:r>
                        <a:t>Maximum safe users</a:t>
                      </a:r>
                    </a:p>
                  </a:txBody>
                  <a:tcPr>
                    <a:solidFill>
                      <a:srgbClr val="F0F6FC"/>
                    </a:solidFill>
                  </a:tcPr>
                </a:tc>
                <a:tc>
                  <a:txBody>
                    <a:bodyPr/>
                    <a:lstStyle/>
                    <a:p>
                      <a:pPr>
                        <a:defRPr sz="1500">
                          <a:solidFill>
                            <a:srgbClr val="232D37"/>
                          </a:solidFill>
                        </a:defRPr>
                      </a:pPr>
                      <a:r>
                        <a:t>Actual result</a:t>
                      </a:r>
                    </a:p>
                  </a:txBody>
                  <a:tcPr>
                    <a:solidFill>
                      <a:srgbClr val="F0F6FC"/>
                    </a:solidFill>
                  </a:tcPr>
                </a:tc>
                <a:tc>
                  <a:txBody>
                    <a:bodyPr/>
                    <a:lstStyle/>
                    <a:p>
                      <a:pPr>
                        <a:defRPr sz="1500">
                          <a:solidFill>
                            <a:srgbClr val="232D37"/>
                          </a:solidFill>
                        </a:defRPr>
                      </a:pPr>
                      <a:r>
                        <a:t>Actual result</a:t>
                      </a:r>
                    </a:p>
                  </a:txBody>
                  <a:tcPr>
                    <a:solidFill>
                      <a:srgbClr val="F0F6FC"/>
                    </a:solidFill>
                  </a:tcPr>
                </a:tc>
                <a:extLst>
                  <a:ext uri="{0D108BD9-81ED-4DB2-BD59-A6C34878D82A}">
                    <a16:rowId xmlns:a16="http://schemas.microsoft.com/office/drawing/2014/main" val="10001"/>
                  </a:ext>
                </a:extLst>
              </a:tr>
              <a:tr h="716280">
                <a:tc>
                  <a:txBody>
                    <a:bodyPr/>
                    <a:lstStyle/>
                    <a:p>
                      <a:pPr>
                        <a:defRPr sz="1500">
                          <a:solidFill>
                            <a:srgbClr val="232D37"/>
                          </a:solidFill>
                        </a:defRPr>
                      </a:pPr>
                      <a:r>
                        <a:t>Avg response time</a:t>
                      </a:r>
                    </a:p>
                  </a:txBody>
                  <a:tcPr>
                    <a:solidFill>
                      <a:srgbClr val="FFFFFF"/>
                    </a:solidFill>
                  </a:tcPr>
                </a:tc>
                <a:tc>
                  <a:txBody>
                    <a:bodyPr/>
                    <a:lstStyle/>
                    <a:p>
                      <a:pPr>
                        <a:defRPr sz="1500">
                          <a:solidFill>
                            <a:srgbClr val="232D37"/>
                          </a:solidFill>
                        </a:defRPr>
                      </a:pPr>
                      <a:r>
                        <a:t>Actual result</a:t>
                      </a:r>
                    </a:p>
                  </a:txBody>
                  <a:tcPr>
                    <a:solidFill>
                      <a:srgbClr val="FFFFFF"/>
                    </a:solidFill>
                  </a:tcPr>
                </a:tc>
                <a:tc>
                  <a:txBody>
                    <a:bodyPr/>
                    <a:lstStyle/>
                    <a:p>
                      <a:pPr>
                        <a:defRPr sz="1500">
                          <a:solidFill>
                            <a:srgbClr val="232D37"/>
                          </a:solidFill>
                        </a:defRPr>
                      </a:pPr>
                      <a:r>
                        <a:t>Actual result</a:t>
                      </a:r>
                    </a:p>
                  </a:txBody>
                  <a:tcPr>
                    <a:solidFill>
                      <a:srgbClr val="FFFFFF"/>
                    </a:solidFill>
                  </a:tcPr>
                </a:tc>
                <a:extLst>
                  <a:ext uri="{0D108BD9-81ED-4DB2-BD59-A6C34878D82A}">
                    <a16:rowId xmlns:a16="http://schemas.microsoft.com/office/drawing/2014/main" val="10002"/>
                  </a:ext>
                </a:extLst>
              </a:tr>
              <a:tr h="716280">
                <a:tc>
                  <a:txBody>
                    <a:bodyPr/>
                    <a:lstStyle/>
                    <a:p>
                      <a:pPr>
                        <a:defRPr sz="1500">
                          <a:solidFill>
                            <a:srgbClr val="232D37"/>
                          </a:solidFill>
                        </a:defRPr>
                      </a:pPr>
                      <a:r>
                        <a:t>Error rate</a:t>
                      </a:r>
                    </a:p>
                  </a:txBody>
                  <a:tcPr>
                    <a:solidFill>
                      <a:srgbClr val="F0F6FC"/>
                    </a:solidFill>
                  </a:tcPr>
                </a:tc>
                <a:tc>
                  <a:txBody>
                    <a:bodyPr/>
                    <a:lstStyle/>
                    <a:p>
                      <a:pPr>
                        <a:defRPr sz="1500">
                          <a:solidFill>
                            <a:srgbClr val="232D37"/>
                          </a:solidFill>
                        </a:defRPr>
                      </a:pPr>
                      <a:r>
                        <a:t>Actual result</a:t>
                      </a:r>
                    </a:p>
                  </a:txBody>
                  <a:tcPr>
                    <a:solidFill>
                      <a:srgbClr val="F0F6FC"/>
                    </a:solidFill>
                  </a:tcPr>
                </a:tc>
                <a:tc>
                  <a:txBody>
                    <a:bodyPr/>
                    <a:lstStyle/>
                    <a:p>
                      <a:pPr>
                        <a:defRPr sz="1500">
                          <a:solidFill>
                            <a:srgbClr val="232D37"/>
                          </a:solidFill>
                        </a:defRPr>
                      </a:pPr>
                      <a:r>
                        <a:t>Actual result</a:t>
                      </a:r>
                    </a:p>
                  </a:txBody>
                  <a:tcPr>
                    <a:solidFill>
                      <a:srgbClr val="F0F6FC"/>
                    </a:solidFill>
                  </a:tcPr>
                </a:tc>
                <a:extLst>
                  <a:ext uri="{0D108BD9-81ED-4DB2-BD59-A6C34878D82A}">
                    <a16:rowId xmlns:a16="http://schemas.microsoft.com/office/drawing/2014/main" val="10003"/>
                  </a:ext>
                </a:extLst>
              </a:tr>
              <a:tr h="716280">
                <a:tc>
                  <a:txBody>
                    <a:bodyPr/>
                    <a:lstStyle/>
                    <a:p>
                      <a:pPr>
                        <a:defRPr sz="1500">
                          <a:solidFill>
                            <a:srgbClr val="232D37"/>
                          </a:solidFill>
                        </a:defRPr>
                      </a:pPr>
                      <a:r>
                        <a:t>CPU utilization</a:t>
                      </a:r>
                    </a:p>
                  </a:txBody>
                  <a:tcPr>
                    <a:solidFill>
                      <a:srgbClr val="FFFFFF"/>
                    </a:solidFill>
                  </a:tcPr>
                </a:tc>
                <a:tc>
                  <a:txBody>
                    <a:bodyPr/>
                    <a:lstStyle/>
                    <a:p>
                      <a:pPr>
                        <a:defRPr sz="1500">
                          <a:solidFill>
                            <a:srgbClr val="232D37"/>
                          </a:solidFill>
                        </a:defRPr>
                      </a:pPr>
                      <a:r>
                        <a:t>Actual result</a:t>
                      </a:r>
                    </a:p>
                  </a:txBody>
                  <a:tcPr>
                    <a:solidFill>
                      <a:srgbClr val="FFFFFF"/>
                    </a:solidFill>
                  </a:tcPr>
                </a:tc>
                <a:tc>
                  <a:txBody>
                    <a:bodyPr/>
                    <a:lstStyle/>
                    <a:p>
                      <a:pPr>
                        <a:defRPr sz="1500">
                          <a:solidFill>
                            <a:srgbClr val="232D37"/>
                          </a:solidFill>
                        </a:defRPr>
                      </a:pPr>
                      <a:r>
                        <a:t>Actual result</a:t>
                      </a:r>
                    </a:p>
                  </a:txBody>
                  <a:tcPr>
                    <a:solidFill>
                      <a:srgbClr val="FFFFFF"/>
                    </a:solidFill>
                  </a:tcPr>
                </a:tc>
                <a:extLst>
                  <a:ext uri="{0D108BD9-81ED-4DB2-BD59-A6C34878D82A}">
                    <a16:rowId xmlns:a16="http://schemas.microsoft.com/office/drawing/2014/main" val="10004"/>
                  </a:ext>
                </a:extLst>
              </a:tr>
              <a:tr h="716280">
                <a:tc>
                  <a:txBody>
                    <a:bodyPr/>
                    <a:lstStyle/>
                    <a:p>
                      <a:pPr>
                        <a:defRPr sz="1500">
                          <a:solidFill>
                            <a:srgbClr val="232D37"/>
                          </a:solidFill>
                        </a:defRPr>
                      </a:pPr>
                      <a:r>
                        <a:t>Instances</a:t>
                      </a:r>
                    </a:p>
                  </a:txBody>
                  <a:tcPr>
                    <a:solidFill>
                      <a:srgbClr val="F0F6FC"/>
                    </a:solidFill>
                  </a:tcPr>
                </a:tc>
                <a:tc>
                  <a:txBody>
                    <a:bodyPr/>
                    <a:lstStyle/>
                    <a:p>
                      <a:pPr>
                        <a:defRPr sz="1500">
                          <a:solidFill>
                            <a:srgbClr val="232D37"/>
                          </a:solidFill>
                        </a:defRPr>
                      </a:pPr>
                      <a:r>
                        <a:t>1</a:t>
                      </a:r>
                    </a:p>
                  </a:txBody>
                  <a:tcPr>
                    <a:solidFill>
                      <a:srgbClr val="F0F6FC"/>
                    </a:solidFill>
                  </a:tcPr>
                </a:tc>
                <a:tc>
                  <a:txBody>
                    <a:bodyPr/>
                    <a:lstStyle/>
                    <a:p>
                      <a:pPr>
                        <a:defRPr sz="1500">
                          <a:solidFill>
                            <a:srgbClr val="232D37"/>
                          </a:solidFill>
                        </a:defRPr>
                      </a:pPr>
                      <a:r>
                        <a:t>Actual result</a:t>
                      </a:r>
                    </a:p>
                  </a:txBody>
                  <a:tcPr>
                    <a:solidFill>
                      <a:srgbClr val="F0F6FC"/>
                    </a:solidFill>
                  </a:tcPr>
                </a:tc>
                <a:extLst>
                  <a:ext uri="{0D108BD9-81ED-4DB2-BD59-A6C34878D82A}">
                    <a16:rowId xmlns:a16="http://schemas.microsoft.com/office/drawing/2014/main" val="10005"/>
                  </a:ext>
                </a:extLst>
              </a:tr>
            </a:tbl>
          </a:graphicData>
        </a:graphic>
      </p:graphicFrame>
      <p:sp>
        <p:nvSpPr>
          <p:cNvPr id="4" name="Rectangle 3"/>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11. Risks and Mitigation</a:t>
            </a:r>
          </a:p>
        </p:txBody>
      </p:sp>
      <p:sp>
        <p:nvSpPr>
          <p:cNvPr id="3" name="Rounded Rectangle 2"/>
          <p:cNvSpPr/>
          <p:nvPr/>
        </p:nvSpPr>
        <p:spPr>
          <a:xfrm>
            <a:off x="685800" y="1234440"/>
            <a:ext cx="5257800" cy="43891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D2691E"/>
                </a:solidFill>
              </a:defRPr>
            </a:pPr>
            <a:r>
              <a:t>Risk 1: Unrealistic Traffic</a:t>
            </a:r>
          </a:p>
          <a:p>
            <a:pPr>
              <a:spcBef>
                <a:spcPts val="700"/>
              </a:spcBef>
              <a:defRPr sz="1300">
                <a:solidFill>
                  <a:srgbClr val="232D37"/>
                </a:solidFill>
              </a:defRPr>
            </a:pPr>
            <a:r>
              <a:t>Problem: a test may repeatedly hit one endpoint and not represent real users.</a:t>
            </a:r>
            <a:br/>
            <a:br/>
            <a:r>
              <a:t>Mitigation:</a:t>
            </a:r>
            <a:br/>
            <a:r>
              <a:t>• Use multiple endpoints.</a:t>
            </a:r>
            <a:br/>
            <a:r>
              <a:t>• Add realistic user journeys.</a:t>
            </a:r>
            <a:br/>
            <a:r>
              <a:t>• Use JMeter for advanced scenarios.</a:t>
            </a:r>
            <a:br/>
            <a:r>
              <a:t>• Use realistic request distributions.</a:t>
            </a:r>
          </a:p>
        </p:txBody>
      </p:sp>
      <p:sp>
        <p:nvSpPr>
          <p:cNvPr id="4" name="Rounded Rectangle 3"/>
          <p:cNvSpPr/>
          <p:nvPr/>
        </p:nvSpPr>
        <p:spPr>
          <a:xfrm>
            <a:off x="6217920" y="1234440"/>
            <a:ext cx="5257800" cy="4389120"/>
          </a:xfrm>
          <a:prstGeom prst="roundRect">
            <a:avLst/>
          </a:prstGeom>
          <a:solidFill>
            <a:srgbClr val="FFFFFF"/>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D2691E"/>
                </a:solidFill>
              </a:defRPr>
            </a:pPr>
            <a:r>
              <a:t>Risk 2: Impact on Production</a:t>
            </a:r>
          </a:p>
          <a:p>
            <a:pPr>
              <a:spcBef>
                <a:spcPts val="700"/>
              </a:spcBef>
              <a:defRPr sz="1300">
                <a:solidFill>
                  <a:srgbClr val="232D37"/>
                </a:solidFill>
              </a:defRPr>
            </a:pPr>
            <a:r>
              <a:t>Problem: aggressive testing can affect real users.</a:t>
            </a:r>
            <a:br/>
            <a:br/>
            <a:r>
              <a:t>Mitigation:</a:t>
            </a:r>
            <a:br/>
            <a:r>
              <a:t>• Prefer a staging environment.</a:t>
            </a:r>
            <a:br/>
            <a:r>
              <a:t>• Use an App Service deployment slot.</a:t>
            </a:r>
            <a:br/>
            <a:r>
              <a:t>• Start with low load.</a:t>
            </a:r>
            <a:br/>
            <a:r>
              <a:t>• Monitor continuously.</a:t>
            </a:r>
            <a:br/>
            <a:r>
              <a:t>• Stop the test if unexpected impact occurs.</a:t>
            </a:r>
          </a:p>
        </p:txBody>
      </p:sp>
      <p:sp>
        <p:nvSpPr>
          <p:cNvPr id="5" name="Rectangle 4"/>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12. Expected Outcome</a:t>
            </a:r>
          </a:p>
        </p:txBody>
      </p:sp>
      <p:sp>
        <p:nvSpPr>
          <p:cNvPr id="3" name="TextBox 2"/>
          <p:cNvSpPr txBox="1"/>
          <p:nvPr/>
        </p:nvSpPr>
        <p:spPr>
          <a:xfrm>
            <a:off x="731520" y="1325880"/>
            <a:ext cx="10698480" cy="4846320"/>
          </a:xfrm>
          <a:prstGeom prst="rect">
            <a:avLst/>
          </a:prstGeom>
          <a:noFill/>
        </p:spPr>
        <p:txBody>
          <a:bodyPr wrap="square">
            <a:spAutoFit/>
          </a:bodyPr>
          <a:lstStyle/>
          <a:p>
            <a:pPr>
              <a:spcAft>
                <a:spcPts val="1000"/>
              </a:spcAft>
              <a:defRPr sz="1800" b="0">
                <a:solidFill>
                  <a:srgbClr val="232D37"/>
                </a:solidFill>
              </a:defRPr>
            </a:pPr>
            <a:r>
              <a:t>A working web application hosted on Microsoft Azure.</a:t>
            </a:r>
          </a:p>
          <a:p>
            <a:pPr>
              <a:spcAft>
                <a:spcPts val="1000"/>
              </a:spcAft>
              <a:defRPr sz="1800" b="0">
                <a:solidFill>
                  <a:srgbClr val="232D37"/>
                </a:solidFill>
              </a:defRPr>
            </a:pPr>
            <a:r>
              <a:t>A repeatable Azure Load Testing process.</a:t>
            </a:r>
          </a:p>
          <a:p>
            <a:pPr>
              <a:spcAft>
                <a:spcPts val="1000"/>
              </a:spcAft>
              <a:defRPr sz="1800" b="0">
                <a:solidFill>
                  <a:srgbClr val="232D37"/>
                </a:solidFill>
              </a:defRPr>
            </a:pPr>
            <a:r>
              <a:t>Measured performance under increasing workloads.</a:t>
            </a:r>
          </a:p>
          <a:p>
            <a:pPr>
              <a:spcAft>
                <a:spcPts val="1000"/>
              </a:spcAft>
              <a:defRPr sz="1800" b="0">
                <a:solidFill>
                  <a:srgbClr val="232D37"/>
                </a:solidFill>
              </a:defRPr>
            </a:pPr>
            <a:r>
              <a:t>A clearly identified breaking point for the initial configuration.</a:t>
            </a:r>
          </a:p>
          <a:p>
            <a:pPr>
              <a:spcAft>
                <a:spcPts val="1000"/>
              </a:spcAft>
              <a:defRPr sz="1800" b="0">
                <a:solidFill>
                  <a:srgbClr val="232D37"/>
                </a:solidFill>
              </a:defRPr>
            </a:pPr>
            <a:r>
              <a:t>Evidence-based identification of the main bottleneck.</a:t>
            </a:r>
          </a:p>
          <a:p>
            <a:pPr>
              <a:spcAft>
                <a:spcPts val="1000"/>
              </a:spcAft>
              <a:defRPr sz="1800" b="0">
                <a:solidFill>
                  <a:srgbClr val="232D37"/>
                </a:solidFill>
              </a:defRPr>
            </a:pPr>
            <a:r>
              <a:t>An improved scaling configuration using Azure App Service scaling/autoscale.</a:t>
            </a:r>
          </a:p>
          <a:p>
            <a:pPr>
              <a:spcAft>
                <a:spcPts val="1000"/>
              </a:spcAft>
              <a:defRPr sz="1800" b="0">
                <a:solidFill>
                  <a:srgbClr val="232D37"/>
                </a:solidFill>
              </a:defRPr>
            </a:pPr>
            <a:r>
              <a:t>A before-versus-after performance comparison.</a:t>
            </a:r>
          </a:p>
          <a:p>
            <a:pPr>
              <a:spcAft>
                <a:spcPts val="1000"/>
              </a:spcAft>
              <a:defRPr sz="1800" b="0">
                <a:solidFill>
                  <a:srgbClr val="232D37"/>
                </a:solidFill>
              </a:defRPr>
            </a:pPr>
            <a:r>
              <a:t>A final recommendation balancing capacity, reliability, and resource cost.</a:t>
            </a:r>
          </a:p>
        </p:txBody>
      </p:sp>
      <p:sp>
        <p:nvSpPr>
          <p:cNvPr id="4" name="Rectangle 3"/>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1155680" cy="640080"/>
          </a:xfrm>
          <a:prstGeom prst="rect">
            <a:avLst/>
          </a:prstGeom>
          <a:noFill/>
        </p:spPr>
        <p:txBody>
          <a:bodyPr wrap="none">
            <a:spAutoFit/>
          </a:bodyPr>
          <a:lstStyle/>
          <a:p>
            <a:pPr>
              <a:defRPr sz="2800" b="1">
                <a:solidFill>
                  <a:srgbClr val="143054"/>
                </a:solidFill>
              </a:defRPr>
            </a:pPr>
            <a:r>
              <a:t>13. Final Conclusion</a:t>
            </a:r>
          </a:p>
        </p:txBody>
      </p:sp>
      <p:sp>
        <p:nvSpPr>
          <p:cNvPr id="3" name="Rounded Rectangle 2"/>
          <p:cNvSpPr/>
          <p:nvPr/>
        </p:nvSpPr>
        <p:spPr>
          <a:xfrm>
            <a:off x="685800" y="1325880"/>
            <a:ext cx="10789920" cy="4023360"/>
          </a:xfrm>
          <a:prstGeom prst="roundRect">
            <a:avLst/>
          </a:prstGeom>
          <a:solidFill>
            <a:srgbClr val="F0F6FC"/>
          </a:solidFill>
          <a:ln>
            <a:solidFill>
              <a:srgbClr val="D2DCE6"/>
            </a:solidFill>
          </a:ln>
        </p:spPr>
        <p:style>
          <a:lnRef idx="1">
            <a:schemeClr val="accent1"/>
          </a:lnRef>
          <a:fillRef idx="3">
            <a:schemeClr val="accent1"/>
          </a:fillRef>
          <a:effectRef idx="2">
            <a:schemeClr val="accent1"/>
          </a:effectRef>
          <a:fontRef idx="minor">
            <a:schemeClr val="lt1"/>
          </a:fontRef>
        </p:style>
        <p:txBody>
          <a:bodyPr lIns="164592" tIns="109728" rIns="164592" rtlCol="0" anchor="ctr"/>
          <a:lstStyle/>
          <a:p>
            <a:pPr algn="ctr">
              <a:defRPr sz="1700" b="1">
                <a:solidFill>
                  <a:srgbClr val="143054"/>
                </a:solidFill>
              </a:defRPr>
            </a:pPr>
            <a:r>
              <a:t>Conclusion</a:t>
            </a:r>
          </a:p>
          <a:p>
            <a:pPr>
              <a:spcBef>
                <a:spcPts val="700"/>
              </a:spcBef>
              <a:defRPr sz="1300">
                <a:solidFill>
                  <a:srgbClr val="232D37"/>
                </a:solidFill>
              </a:defRPr>
            </a:pPr>
            <a:r>
              <a:t>Azure Load Testing provides a controlled way to study how a web application behaves as traffic increases. By combining Azure Load Testing with App Service, Application Insights, Azure Monitor, and scaling, the project can move from simple performance measurement to evidence-based capacity planning.</a:t>
            </a:r>
            <a:br/>
            <a:br/>
            <a:r>
              <a:t>The final configuration should be selected from actual test results: the application must remain within the chosen response-time and error-rate limits while avoiding unnecessary resource consumption.</a:t>
            </a:r>
          </a:p>
        </p:txBody>
      </p:sp>
      <p:sp>
        <p:nvSpPr>
          <p:cNvPr id="4" name="TextBox 3"/>
          <p:cNvSpPr txBox="1"/>
          <p:nvPr/>
        </p:nvSpPr>
        <p:spPr>
          <a:xfrm>
            <a:off x="1371600" y="5623560"/>
            <a:ext cx="9418320" cy="548640"/>
          </a:xfrm>
          <a:prstGeom prst="rect">
            <a:avLst/>
          </a:prstGeom>
          <a:noFill/>
        </p:spPr>
        <p:txBody>
          <a:bodyPr wrap="none">
            <a:spAutoFit/>
          </a:bodyPr>
          <a:lstStyle/>
          <a:p>
            <a:pPr algn="ctr">
              <a:defRPr sz="2800" b="1">
                <a:solidFill>
                  <a:srgbClr val="0078D4"/>
                </a:solidFill>
              </a:defRPr>
            </a:pPr>
            <a:r>
              <a:t>Thank You</a:t>
            </a:r>
          </a:p>
        </p:txBody>
      </p:sp>
      <p:sp>
        <p:nvSpPr>
          <p:cNvPr id="5" name="Rectangle 4"/>
          <p:cNvSpPr/>
          <p:nvPr/>
        </p:nvSpPr>
        <p:spPr>
          <a:xfrm>
            <a:off x="0" y="6601968"/>
            <a:ext cx="12191695" cy="256032"/>
          </a:xfrm>
          <a:prstGeom prst="rect">
            <a:avLst/>
          </a:prstGeom>
          <a:solidFill>
            <a:srgbClr val="143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6601968"/>
            <a:ext cx="11247120" cy="228600"/>
          </a:xfrm>
          <a:prstGeom prst="rect">
            <a:avLst/>
          </a:prstGeom>
          <a:noFill/>
        </p:spPr>
        <p:txBody>
          <a:bodyPr wrap="none">
            <a:spAutoFit/>
          </a:bodyPr>
          <a:lstStyle/>
          <a:p>
            <a:pPr>
              <a:defRPr sz="900">
                <a:solidFill>
                  <a:srgbClr val="FFFFFF"/>
                </a:solidFill>
              </a:defRPr>
            </a:pPr>
            <a:r>
              <a:t>Azure Load Testing for a Web Application Capacity Study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1165</Words>
  <Application>Microsoft Office PowerPoint</Application>
  <PresentationFormat>Widescreen</PresentationFormat>
  <Paragraphs>161</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ADITYA-LOQ</dc:creator>
  <cp:keywords/>
  <dc:description>generated using python-pptx</dc:description>
  <cp:lastModifiedBy>Aditya Singh</cp:lastModifiedBy>
  <cp:revision>1</cp:revision>
  <dcterms:created xsi:type="dcterms:W3CDTF">2013-01-27T09:14:16Z</dcterms:created>
  <dcterms:modified xsi:type="dcterms:W3CDTF">2026-09-23T02:22:47Z</dcterms:modified>
  <cp:category/>
</cp:coreProperties>
</file>
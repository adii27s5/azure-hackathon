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Azure Load Testing for a Web Application Capacity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b="1" sz="1500">
                <a:solidFill>
                  <a:srgbClr val="00BCF2"/>
                </a:solidFill>
              </a:rPr>
              <a:t>• Project ID: </a:t>
            </a:r>
            <a:r>
              <a:rPr sz="1500">
                <a:solidFill>
                  <a:srgbClr val="94A3B8"/>
                </a:solidFill>
              </a:rPr>
              <a:t>24CC3046-P056</a:t>
            </a:r>
          </a:p>
          <a:p>
            <a:r>
              <a:rPr b="1" sz="1500">
                <a:solidFill>
                  <a:srgbClr val="00BCF2"/>
                </a:solidFill>
              </a:rPr>
              <a:t>• Team: </a:t>
            </a:r>
            <a:r>
              <a:rPr sz="1500">
                <a:solidFill>
                  <a:srgbClr val="94A3B8"/>
                </a:solidFill>
              </a:rPr>
              <a:t>T158</a:t>
            </a:r>
          </a:p>
          <a:p>
            <a:r>
              <a:rPr b="1" sz="1500">
                <a:solidFill>
                  <a:srgbClr val="00BCF2"/>
                </a:solidFill>
              </a:rPr>
              <a:t>• Environment: </a:t>
            </a:r>
            <a:r>
              <a:rPr sz="1500">
                <a:solidFill>
                  <a:srgbClr val="94A3B8"/>
                </a:solidFill>
              </a:rPr>
              <a:t>Microsoft Azure (Central India, rg-loadtest)</a:t>
            </a:r>
          </a:p>
          <a:p>
            <a:r>
              <a:rPr b="1" sz="1500">
                <a:solidFill>
                  <a:srgbClr val="00BCF2"/>
                </a:solidFill>
              </a:rPr>
              <a:t>• Domain: </a:t>
            </a:r>
            <a:r>
              <a:rPr sz="1500">
                <a:solidFill>
                  <a:srgbClr val="94A3B8"/>
                </a:solidFill>
              </a:rPr>
              <a:t>Cloud Capacity Engineering &amp; Distributed Load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2 / 25 • TEAM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Team Members &amp; Contributions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96012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b="1" sz="1500">
                <a:solidFill>
                  <a:srgbClr val="00BCF2"/>
                </a:solidFill>
              </a:defRPr>
            </a:pPr>
            <a:r>
              <a:t>2400032012 — KORADA TEJA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Role: Cloud Infrastructure Deployment &amp; Azure App Service Provisioning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71800"/>
            <a:ext cx="10332720" cy="96012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b="1" sz="1500">
                <a:solidFill>
                  <a:srgbClr val="00BCF2"/>
                </a:solidFill>
              </a:defRPr>
            </a:pPr>
            <a:r>
              <a:t>2400032102 — GUBBALA LAKSHMI SAI TEJA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Role: PostgreSQL Flexible Server Architecture, Schema &amp; VNet Delegation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10332720" cy="96012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b="1" sz="1500">
                <a:solidFill>
                  <a:srgbClr val="00BCF2"/>
                </a:solidFill>
              </a:defRPr>
            </a:pPr>
            <a:r>
              <a:t>2400032152 — ADITYA SINGH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Role: DevOps Engineering, CI/CD Pipeline, JMeter Test Scenarios &amp;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257800"/>
            <a:ext cx="10332720" cy="96012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b="1" sz="1500">
                <a:solidFill>
                  <a:srgbClr val="00BCF2"/>
                </a:solidFill>
              </a:defRPr>
            </a:pPr>
            <a:r>
              <a:t>2400032605 — GOLLA MANIKANTA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Role: Azure Monitor Telemetry, Application Insights &amp; Autoscale Rule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3 / 25 • ARCHITECTURE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Uncertainty in Cloud Sizing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Web applications often rely on theoretical heuristics rather than empirical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Traffic Surges &amp; Bottlenecks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Sudden demand spikes expose single-threaded Node.js bottlenecks and connection pooling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Autoscale Risks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Improperly tuned autoscale thresholds cause delayed scaling or request queueing during cold starts.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5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Objective Need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 rigorous empirical study is required to map throughput, latency, and resource breaking boundaries.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4 / 25 • ARCHITECTURE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1. Measure Safe Capacity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Establish the maximum concurrency supported with zero errors and healthy CPU headroom.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2. Identify the Latency Knee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Determine the transition point where response latency begins exponential escalation.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3. Locate Breaking Point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Pinpoint the exact concurrency that causes resource saturation under Standard S1 sizing.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5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4. Validate Horizontal Scaling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Evaluate 1 vs 2 instances under identical 500-user load to measure compute relief.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66927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5. Implement Autoscale Gates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Verify dynamic scale-out and scale-in rules driven by Azure Monitor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5 / 25 • ARCHITECTURE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Proposed Solution &amp;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Cloud-Native Architecture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Deploy scalable Node.js on Azure App Service with isolated PostgreSQL Flexible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Zero-Trust VNet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Eliminate public database exposure using Regional VNet integration and Private DNS zones.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Distributed JMeter Testing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Leverage Azure Load Testing (alt-loadtest-101) to simulate multi-endpoint user journeys.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5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Full Telemetry Instrumentation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Correlate APM metrics, live dependencies, and container performance in real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6 / 25 • ARCHITECTURE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End-to-End Cloud Topology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Traffic Generator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Azure Load Testing (alt-loadtest-101) in Central India executing multi-threaded JMeter plans.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Frontend &amp; API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Azure App Service (app-loadtest-101) on Linux Standard S1 Plan (plan-loadtest).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Database Layer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Azure Database for PostgreSQL Flexible Server (app-loadtest-101-server) in private subnet.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5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Telemetry &amp; Logs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Application Insights (appi-loadtest-101) and Log Analytics (law-loadtest-101).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7 / 25 • ARCHITECTURE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Verified Azure Cloud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App Service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app-loadtest-101 — Linux Node.js 24 LTS web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App Service Plan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plan-loadtest — Standard S1 (1 Core, 1.75 GB RAM)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PostgreSQL Flexible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app-loadtest-101-server — Standard_D2s_v3 (v14) with db-loadtest-101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5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Load Testing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alt-loadtest-101 — Managed distributed Apache JMeter test runner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66927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App Insights &amp; Monitor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appi-loadtest-101 &amp; autoscale-plan-loadtest — Live APM and autoscale triggers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8 / 25 • ARCHITECTURE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Node.js Application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Express Framework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RESTful multi-tier API serving products, search, dashboard, and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Resilient Cold Start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Immediate app.listen() binding ensures Azure container health probes pass in &lt;2s.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Connection Pool Management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pg.Pool configured with max: 20 per instance and idleTimeoutMillis: 30000.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5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CORS &amp; Storefront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Full CORS support for browser clients, integrated dashboard at /, and storefront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9 / 25 • ARCHITECTURE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Database Sizing &amp; Data 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Flexible Server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PostgreSQL 14 in private delegated subnet subnet-ejdigsdaswpw4 (10.0.2.0/24).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Seeded Data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100 customer profiles, 500 catalog products, and 6,400+ transactional orders.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Index Optimization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B-tree indexes on search keywords, category filters, and customer order foreign keys.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5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Zero-Trust Security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Accessible only via private DNS privatelink.postgres.database.azure.com (10.0.2.4).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10 / 25 • ARCHITECTURE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CI/CD &amp; DevOps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GitHub Actions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Automated pipeline configured in .github/workflows/deploy-app-loadtest-101.yml.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Automated Verification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Runs npm test executing 8 self-contained integration tests (8 passed, 0 failed in 9s).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Zero-Downtime Deployment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Packages clean POSIX zip bundle and deploys directly to Azure App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5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Verified Builds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Recent commits bd6fbe1 and 9be1d2e verified with 100% CI/CD deployment success.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11 / 25 • ARCHITECTURE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Application Insights &amp;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APM Metrics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Tracks end-to-end request durations, HTTP status codes, and exception stack traces.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Dependency Tracking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Monitors PostgreSQL SQL query durations, connection latency, and execution plans.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Live Metrics Stream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Real-time visibility into CPU, memory, incoming RPS, and active server instances.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5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Centralized Ingestion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Log Analytics workspace (law-loadtest-101) aggregates container and Kudu diagnostics.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12 / 25 • ARCHITECTURE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Apache JMeter Test Plan Specification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Scenario File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loadtest/capacity_study.jmx — Parameterized for Azure Load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Dynamic Properties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Configured via Groovy expressions to support CLI environment variables (app_host, threads).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HTTP Request Defaults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Connect timeout = 10,000 ms, Response timeout = 15,000 ms, Keep-Alive enabled.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5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Realistic Simulation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Includes random timers, realistic browser headers, and JSON body payloads.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13 / 25 • ARCHITECTURE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Load Testing Methodology &amp;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Step 1: Baseline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10 virtual users to establish baseline latency and system stability under minimal 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Step 2: Progressive Ramp-Up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50 and 100 virtual users to identify proportional throughput scaling.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Step 3: Knee Identification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250 virtual users to observe queueing onset and response time inflection.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5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Step 4: Stress Testing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500 virtual users on 1 instance to determine the definitive saturation breaking 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66927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Step 5: Scale-Out Validation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500 virtual users on 2 instances to measure compute relief and ARR behavior.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14 / 25 • EMPIRICAL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Baseline Capacity Testing (10 Users)</a:t>
            </a:r>
          </a:p>
        </p:txBody>
      </p:sp>
      <p:pic>
        <p:nvPicPr>
          <p:cNvPr id="5" name="Picture 4" descr="01_users_vs_r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669280" cy="35433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645920"/>
            <a:ext cx="4389120" cy="438912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400">
                <a:solidFill>
                  <a:srgbClr val="0078D4"/>
                </a:solidFill>
              </a:defRPr>
            </a:pPr>
            <a:r>
              <a:t>Key Empirical Observations:</a:t>
            </a:r>
          </a:p>
          <a:p>
            <a:r>
              <a:rPr b="1" sz="1100">
                <a:solidFill>
                  <a:srgbClr val="F8FAFC"/>
                </a:solidFill>
              </a:rPr>
              <a:t>• Concurrency: </a:t>
            </a:r>
            <a:r>
              <a:rPr sz="1100">
                <a:solidFill>
                  <a:srgbClr val="94A3B8"/>
                </a:solidFill>
              </a:rPr>
              <a:t>10 Virtual Users | Duration: 120s | Instance Count: 1</a:t>
            </a:r>
          </a:p>
          <a:p>
            <a:r>
              <a:rPr b="1" sz="1100">
                <a:solidFill>
                  <a:srgbClr val="F8FAFC"/>
                </a:solidFill>
              </a:rPr>
              <a:t>• Throughput: </a:t>
            </a:r>
            <a:r>
              <a:rPr sz="1100">
                <a:solidFill>
                  <a:srgbClr val="94A3B8"/>
                </a:solidFill>
              </a:rPr>
              <a:t>110.7 Requests Per Second (13,280 total requests)</a:t>
            </a:r>
          </a:p>
          <a:p>
            <a:r>
              <a:rPr b="1" sz="1100">
                <a:solidFill>
                  <a:srgbClr val="F8FAFC"/>
                </a:solidFill>
              </a:rPr>
              <a:t>• Latency: </a:t>
            </a:r>
            <a:r>
              <a:rPr sz="1100">
                <a:solidFill>
                  <a:srgbClr val="94A3B8"/>
                </a:solidFill>
              </a:rPr>
              <a:t>Average: 83.0 ms | P50: 33.0 ms | P95: 310.0 ms | Peak: 2,240 ms</a:t>
            </a:r>
          </a:p>
          <a:p>
            <a:r>
              <a:rPr b="1" sz="1100">
                <a:solidFill>
                  <a:srgbClr val="F8FAFC"/>
                </a:solidFill>
              </a:rPr>
              <a:t>• Resource Utilization: </a:t>
            </a:r>
            <a:r>
              <a:rPr sz="1100">
                <a:solidFill>
                  <a:srgbClr val="94A3B8"/>
                </a:solidFill>
              </a:rPr>
              <a:t>CPU: 17.7% | Memory: 42.1% | Errors: 0 (0.00%) — Optimal State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15 / 25 • EMPIRICAL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Progressive Load Progression (50 &amp; 100 Users)</a:t>
            </a:r>
          </a:p>
        </p:txBody>
      </p:sp>
      <p:pic>
        <p:nvPicPr>
          <p:cNvPr id="5" name="Picture 4" descr="02_users_vs_avg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669280" cy="35433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645920"/>
            <a:ext cx="4389120" cy="438912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400">
                <a:solidFill>
                  <a:srgbClr val="0078D4"/>
                </a:solidFill>
              </a:defRPr>
            </a:pPr>
            <a:r>
              <a:t>Key Empirical Observations:</a:t>
            </a:r>
          </a:p>
          <a:p>
            <a:r>
              <a:rPr b="1" sz="1100">
                <a:solidFill>
                  <a:srgbClr val="F8FAFC"/>
                </a:solidFill>
              </a:rPr>
              <a:t>• 50 Users (run-2): </a:t>
            </a:r>
            <a:r>
              <a:rPr sz="1100">
                <a:solidFill>
                  <a:srgbClr val="94A3B8"/>
                </a:solidFill>
              </a:rPr>
              <a:t>144.9 RPS | Avg: 285 ms | P95: 1,022 ms | CPU: 38.0% | Errors: 0.00%</a:t>
            </a:r>
          </a:p>
          <a:p>
            <a:r>
              <a:rPr b="1" sz="1100">
                <a:solidFill>
                  <a:srgbClr val="F8FAFC"/>
                </a:solidFill>
              </a:rPr>
              <a:t>• 100 Users (run-3): </a:t>
            </a:r>
            <a:r>
              <a:rPr sz="1100">
                <a:solidFill>
                  <a:srgbClr val="94A3B8"/>
                </a:solidFill>
              </a:rPr>
              <a:t>175.9 RPS | Avg: 489 ms | P95: 1,800 ms | CPU: 58.2% | Errors: 0.00%</a:t>
            </a:r>
          </a:p>
          <a:p>
            <a:r>
              <a:rPr b="1" sz="1100">
                <a:solidFill>
                  <a:srgbClr val="F8FAFC"/>
                </a:solidFill>
              </a:rPr>
              <a:t>• Safe Capacity Boundary: </a:t>
            </a:r>
            <a:r>
              <a:rPr sz="1100">
                <a:solidFill>
                  <a:srgbClr val="94A3B8"/>
                </a:solidFill>
              </a:rPr>
              <a:t>100 users represents the highest concurrency maintaining 0.00% error rate.</a:t>
            </a:r>
          </a:p>
          <a:p>
            <a:r>
              <a:rPr b="1" sz="1100">
                <a:solidFill>
                  <a:srgbClr val="F8FAFC"/>
                </a:solidFill>
              </a:rPr>
              <a:t>• Linear Scalability: </a:t>
            </a:r>
            <a:r>
              <a:rPr sz="1100">
                <a:solidFill>
                  <a:srgbClr val="94A3B8"/>
                </a:solidFill>
              </a:rPr>
              <a:t>Throughput scaled smoothly from 110.7 to 175.9 RPS with healthy CPU headroom.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16 / 25 • EMPIRICAL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Latency Knee &amp; Degradation (250 Users)</a:t>
            </a:r>
          </a:p>
        </p:txBody>
      </p:sp>
      <p:pic>
        <p:nvPicPr>
          <p:cNvPr id="5" name="Picture 4" descr="03_users_vs_p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669280" cy="35433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645920"/>
            <a:ext cx="4389120" cy="438912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400">
                <a:solidFill>
                  <a:srgbClr val="0078D4"/>
                </a:solidFill>
              </a:defRPr>
            </a:pPr>
            <a:r>
              <a:t>Key Empirical Observations:</a:t>
            </a:r>
          </a:p>
          <a:p>
            <a:r>
              <a:rPr b="1" sz="1100">
                <a:solidFill>
                  <a:srgbClr val="F8FAFC"/>
                </a:solidFill>
              </a:rPr>
              <a:t>• Concurrency: </a:t>
            </a:r>
            <a:r>
              <a:rPr sz="1100">
                <a:solidFill>
                  <a:srgbClr val="94A3B8"/>
                </a:solidFill>
              </a:rPr>
              <a:t>250 Virtual Users (run-4-heavy-250u-v2) | Instances: 1</a:t>
            </a:r>
          </a:p>
          <a:p>
            <a:r>
              <a:rPr b="1" sz="1100">
                <a:solidFill>
                  <a:srgbClr val="F8FAFC"/>
                </a:solidFill>
              </a:rPr>
              <a:t>• Throughput Plateau: </a:t>
            </a:r>
            <a:r>
              <a:rPr sz="1100">
                <a:solidFill>
                  <a:srgbClr val="94A3B8"/>
                </a:solidFill>
              </a:rPr>
              <a:t>177.2 RPS (throughout stopped scaling proportionally)</a:t>
            </a:r>
          </a:p>
          <a:p>
            <a:r>
              <a:rPr b="1" sz="1100">
                <a:solidFill>
                  <a:srgbClr val="F8FAFC"/>
                </a:solidFill>
              </a:rPr>
              <a:t>• Latency Spike: </a:t>
            </a:r>
            <a:r>
              <a:rPr sz="1100">
                <a:solidFill>
                  <a:srgbClr val="94A3B8"/>
                </a:solidFill>
              </a:rPr>
              <a:t>Avg latency rose to 1,176 ms; P95 surged from 1,800 ms to 7,257 ms.</a:t>
            </a:r>
          </a:p>
          <a:p>
            <a:r>
              <a:rPr b="1" sz="1100">
                <a:solidFill>
                  <a:srgbClr val="F8FAFC"/>
                </a:solidFill>
              </a:rPr>
              <a:t>• Queueing Errors: </a:t>
            </a:r>
            <a:r>
              <a:rPr sz="1100">
                <a:solidFill>
                  <a:srgbClr val="94A3B8"/>
                </a:solidFill>
              </a:rPr>
              <a:t>549 errors (2.42%) emerged as CPU utilization reached 78.5%.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17 / 25 • EMPIRICAL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500-User Saturation Breaking Point</a:t>
            </a:r>
          </a:p>
        </p:txBody>
      </p:sp>
      <p:pic>
        <p:nvPicPr>
          <p:cNvPr id="5" name="Picture 4" descr="05_users_vs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669280" cy="35433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645920"/>
            <a:ext cx="4389120" cy="438912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400">
                <a:solidFill>
                  <a:srgbClr val="0078D4"/>
                </a:solidFill>
              </a:defRPr>
            </a:pPr>
            <a:r>
              <a:t>Key Empirical Observations:</a:t>
            </a:r>
          </a:p>
          <a:p>
            <a:r>
              <a:rPr b="1" sz="1100">
                <a:solidFill>
                  <a:srgbClr val="F8FAFC"/>
                </a:solidFill>
              </a:rPr>
              <a:t>• Observed Breaking Point: </a:t>
            </a:r>
            <a:r>
              <a:rPr sz="1100">
                <a:solidFill>
                  <a:srgbClr val="94A3B8"/>
                </a:solidFill>
              </a:rPr>
              <a:t>Single Standard S1 instance saturated under 500 virtual users.</a:t>
            </a:r>
          </a:p>
          <a:p>
            <a:r>
              <a:rPr b="1" sz="1100">
                <a:solidFill>
                  <a:srgbClr val="F8FAFC"/>
                </a:solidFill>
              </a:rPr>
              <a:t>• CPU Core Saturation: </a:t>
            </a:r>
            <a:r>
              <a:rPr sz="1100">
                <a:solidFill>
                  <a:srgbClr val="94A3B8"/>
                </a:solidFill>
              </a:rPr>
              <a:t>App Service CPU hit 96.4% sustained utilization.</a:t>
            </a:r>
          </a:p>
          <a:p>
            <a:r>
              <a:rPr b="1" sz="1100">
                <a:solidFill>
                  <a:srgbClr val="F8FAFC"/>
                </a:solidFill>
              </a:rPr>
              <a:t>• Socket Timeout Limit: </a:t>
            </a:r>
            <a:r>
              <a:rPr sz="1100">
                <a:solidFill>
                  <a:srgbClr val="94A3B8"/>
                </a:solidFill>
              </a:rPr>
              <a:t>P95 latency hit 15,010 ms (JMeter socket timeout limit).</a:t>
            </a:r>
          </a:p>
          <a:p>
            <a:r>
              <a:rPr b="1" sz="1100">
                <a:solidFill>
                  <a:srgbClr val="F8FAFC"/>
                </a:solidFill>
              </a:rPr>
              <a:t>• Error Severity: </a:t>
            </a:r>
            <a:r>
              <a:rPr sz="1100">
                <a:solidFill>
                  <a:srgbClr val="94A3B8"/>
                </a:solidFill>
              </a:rPr>
              <a:t>1,305 failed requests (5.66% error rate) due to event loop backlog.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18 / 25 • EMPIRICAL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2-Instance Scale-Out Investigation</a:t>
            </a:r>
          </a:p>
        </p:txBody>
      </p:sp>
      <p:pic>
        <p:nvPicPr>
          <p:cNvPr id="5" name="Picture 4" descr="07_1inst_vs_2inst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669280" cy="404948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645920"/>
            <a:ext cx="4389120" cy="438912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400">
                <a:solidFill>
                  <a:srgbClr val="0078D4"/>
                </a:solidFill>
              </a:defRPr>
            </a:pPr>
            <a:r>
              <a:t>Key Empirical Observations:</a:t>
            </a:r>
          </a:p>
          <a:p>
            <a:r>
              <a:rPr b="1" sz="1100">
                <a:solidFill>
                  <a:srgbClr val="F8FAFC"/>
                </a:solidFill>
              </a:rPr>
              <a:t>• Compute Headroom Relieved: </a:t>
            </a:r>
            <a:r>
              <a:rPr sz="1100">
                <a:solidFill>
                  <a:srgbClr val="94A3B8"/>
                </a:solidFill>
              </a:rPr>
              <a:t>Average CPU per instance dropped from 96.4% down to 49.1% (-47.3%).</a:t>
            </a:r>
          </a:p>
          <a:p>
            <a:r>
              <a:rPr b="1" sz="1100">
                <a:solidFill>
                  <a:srgbClr val="F8FAFC"/>
                </a:solidFill>
              </a:rPr>
              <a:t>• Error Discrepancy: </a:t>
            </a:r>
            <a:r>
              <a:rPr sz="1100">
                <a:solidFill>
                  <a:srgbClr val="94A3B8"/>
                </a:solidFill>
              </a:rPr>
              <a:t>Errors rose to 9.92% (1,783 failures) and RPS was 137.2.</a:t>
            </a:r>
          </a:p>
          <a:p>
            <a:r>
              <a:rPr b="1" sz="1100">
                <a:solidFill>
                  <a:srgbClr val="F8FAFC"/>
                </a:solidFill>
              </a:rPr>
              <a:t>• Root Cause Identified: </a:t>
            </a:r>
            <a:r>
              <a:rPr sz="1100">
                <a:solidFill>
                  <a:srgbClr val="94A3B8"/>
                </a:solidFill>
              </a:rPr>
              <a:t>ARR routed traffic to 2nd instance during cold start before connection pool priming.</a:t>
            </a:r>
          </a:p>
          <a:p>
            <a:r>
              <a:rPr b="1" sz="1100">
                <a:solidFill>
                  <a:srgbClr val="F8FAFC"/>
                </a:solidFill>
              </a:rPr>
              <a:t>• Key Finding: </a:t>
            </a:r>
            <a:r>
              <a:rPr sz="1100">
                <a:solidFill>
                  <a:srgbClr val="94A3B8"/>
                </a:solidFill>
              </a:rPr>
              <a:t>Scaling halves CPU pressure, but requires warmup probes to eliminate cold-start timeouts.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19 / 25 • EMPIRICAL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Azure Monitor Dynamic Autoscale</a:t>
            </a:r>
          </a:p>
        </p:txBody>
      </p:sp>
      <p:pic>
        <p:nvPicPr>
          <p:cNvPr id="5" name="Picture 4" descr="10_concurrency_vs_inst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669280" cy="35433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645920"/>
            <a:ext cx="4389120" cy="438912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400">
                <a:solidFill>
                  <a:srgbClr val="0078D4"/>
                </a:solidFill>
              </a:defRPr>
            </a:pPr>
            <a:r>
              <a:t>Key Empirical Observations:</a:t>
            </a:r>
          </a:p>
          <a:p>
            <a:r>
              <a:rPr b="1" sz="1100">
                <a:solidFill>
                  <a:srgbClr val="F8FAFC"/>
                </a:solidFill>
              </a:rPr>
              <a:t>• Autoscale Rule Set: </a:t>
            </a:r>
            <a:r>
              <a:rPr sz="1100">
                <a:solidFill>
                  <a:srgbClr val="94A3B8"/>
                </a:solidFill>
              </a:rPr>
              <a:t>autoscale-plan-loadtest active on plan-loadtest (1 to 4 instances).</a:t>
            </a:r>
          </a:p>
          <a:p>
            <a:r>
              <a:rPr b="1" sz="1100">
                <a:solidFill>
                  <a:srgbClr val="F8FAFC"/>
                </a:solidFill>
              </a:rPr>
              <a:t>• Scale-Out Policy: </a:t>
            </a:r>
            <a:r>
              <a:rPr sz="1100">
                <a:solidFill>
                  <a:srgbClr val="94A3B8"/>
                </a:solidFill>
              </a:rPr>
              <a:t>Average CPU &gt; 70% sustained for 5 minutes increments instance count by +1.</a:t>
            </a:r>
          </a:p>
          <a:p>
            <a:r>
              <a:rPr b="1" sz="1100">
                <a:solidFill>
                  <a:srgbClr val="F8FAFC"/>
                </a:solidFill>
              </a:rPr>
              <a:t>• Scale-In Policy: </a:t>
            </a:r>
            <a:r>
              <a:rPr sz="1100">
                <a:solidFill>
                  <a:srgbClr val="94A3B8"/>
                </a:solidFill>
              </a:rPr>
              <a:t>Average CPU &lt; 30% sustained for 5 minutes decrements instance count by -1.</a:t>
            </a:r>
          </a:p>
          <a:p>
            <a:r>
              <a:rPr b="1" sz="1100">
                <a:solidFill>
                  <a:srgbClr val="F8FAFC"/>
                </a:solidFill>
              </a:rPr>
              <a:t>• Production Benefit: </a:t>
            </a:r>
            <a:r>
              <a:rPr sz="1100">
                <a:solidFill>
                  <a:srgbClr val="94A3B8"/>
                </a:solidFill>
              </a:rPr>
              <a:t>Protects against sudden saturation spikes while conserving off-peak costs.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20 / 25 • EMPIRICAL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1-Instance vs 2-Instance Detailed Comparison</a:t>
            </a:r>
          </a:p>
        </p:txBody>
      </p:sp>
      <p:pic>
        <p:nvPicPr>
          <p:cNvPr id="5" name="Picture 4" descr="08_1inst_vs_2inst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669280" cy="35433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645920"/>
            <a:ext cx="4389120" cy="438912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400">
                <a:solidFill>
                  <a:srgbClr val="0078D4"/>
                </a:solidFill>
              </a:defRPr>
            </a:pPr>
            <a:r>
              <a:t>Key Empirical Observations:</a:t>
            </a:r>
          </a:p>
          <a:p>
            <a:r>
              <a:rPr b="1" sz="1100">
                <a:solidFill>
                  <a:srgbClr val="F8FAFC"/>
                </a:solidFill>
              </a:rPr>
              <a:t>• CPU Metric: </a:t>
            </a:r>
            <a:r>
              <a:rPr sz="1100">
                <a:solidFill>
                  <a:srgbClr val="94A3B8"/>
                </a:solidFill>
              </a:rPr>
              <a:t>1 Inst: 96.4% CPU (Saturated) vs 2 Inst: 49.1% CPU (Healthy Headroom)</a:t>
            </a:r>
          </a:p>
          <a:p>
            <a:r>
              <a:rPr b="1" sz="1100">
                <a:solidFill>
                  <a:srgbClr val="F8FAFC"/>
                </a:solidFill>
              </a:rPr>
              <a:t>• Latency Metric: </a:t>
            </a:r>
            <a:r>
              <a:rPr sz="1100">
                <a:solidFill>
                  <a:srgbClr val="94A3B8"/>
                </a:solidFill>
              </a:rPr>
              <a:t>1 Inst: 2,365 ms Avg vs 2 Inst: 3,046 ms Avg (Warmup transition penalty)</a:t>
            </a:r>
          </a:p>
          <a:p>
            <a:r>
              <a:rPr b="1" sz="1100">
                <a:solidFill>
                  <a:srgbClr val="F8FAFC"/>
                </a:solidFill>
              </a:rPr>
              <a:t>• Throughput Metric: </a:t>
            </a:r>
            <a:r>
              <a:rPr sz="1100">
                <a:solidFill>
                  <a:srgbClr val="94A3B8"/>
                </a:solidFill>
              </a:rPr>
              <a:t>1 Inst: 184.5 RPS vs 2 Inst: 137.2 RPS (Queueing during ramp-up)</a:t>
            </a:r>
          </a:p>
          <a:p>
            <a:r>
              <a:rPr b="1" sz="1100">
                <a:solidFill>
                  <a:srgbClr val="F8FAFC"/>
                </a:solidFill>
              </a:rPr>
              <a:t>• Takeaway: </a:t>
            </a:r>
            <a:r>
              <a:rPr sz="1100">
                <a:solidFill>
                  <a:srgbClr val="94A3B8"/>
                </a:solidFill>
              </a:rPr>
              <a:t>CPU relief is instantaneous, but end-to-end stability requires warmed containers.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21 / 25 • ARCHITECTURE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Azure Portal Performance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Dashboard Name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capacity-performance-dashboard deployed directly in resource group rg-loadtest.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Compute Tile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App Service Plan CPU % and Memory % over 24-hour evaluation window.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Web App Tile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HTTP request throughput, average response latency, and HTTP 5xx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5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Database &amp; APM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PostgreSQL active connections, CPU %, and Application Insights failure rates.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66927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Capacity Matrix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Embedded Markdown widget showing all 6 empirical load test runs.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22 / 25 • ARCHITECTURE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Summary Empirical Capacity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10 Users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110.7 RPS | 83 ms Avg | 310 ms P95 | 0.00% Errors | 17.7% CPU [PASS]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50 Users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144.9 RPS | 285 ms Avg | 1,022 ms P95 | 0.00% Errors | 38.0% CPU [PASS]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100 Users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175.9 RPS | 489 ms Avg | 1,800 ms P95 | 0.00% Errors | 58.2% CPU [SAFE LIMIT]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5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250 Users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177.2 RPS | 1,176 ms Avg | 7,257 ms P95 | 2.42% Errors | 78.5% CPU [KNEE]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66927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500 Users (1 Inst)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184.5 RPS | 2,365 ms Avg | 15,010 ms P95 | 5.66% Errors | 96.4% CPU [BREAK]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662939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500 Users (2 Inst)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137.2 RPS | 3,046 ms Avg | 15,010 ms P95 | 9.92% Errors | 49.1% CPU [RELIEVED]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23 / 25 • ARCHITECTURE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Study Limitations &amp; Operational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JMeter Socket Timeout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15,000 ms response timeout marks extremely delayed requests as socket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Network Co-Location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Load generator and web app co-located in Central India; excludes global WAN transit.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Single Region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Evaluation focused on single-region horizontal scaling without multi-region Front Door.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5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Database Cold Storage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Pre-seeded tables in PostgreSQL cache; cold disk read paging not simulated.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24 / 25 • ARCHITECTURE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Engineering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Definitive Capacity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 single Standard S1 instance is optimal up to 100 concurrent virtual users.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Observed Saturation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500 users saturates single-core compute, proving CPU is the governing bottleneck.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Scaling Impact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Horizontal scaling cuts CPU utilization in half, but requires warmup priming in ARR.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5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Autoscale Policy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70% scale-out threshold provides ideal reaction time before queueing escalates.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CF2"/>
                </a:solidFill>
              </a:defRPr>
            </a:pPr>
            <a:r>
              <a:t>SLIDE 25 / 25 • ARCHITECTURE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Future Work &amp; Production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Azure Front Door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Implement global Anycast routing with geo-distributed multi-region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Application Pre-Warming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Configure &lt;applicationInitialization&gt; in web.config to eliminate ARR cold starts.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Database Read Replicas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Deploy PostgreSQL read replicas with PgBouncer connection pooling.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59"/>
            <a:ext cx="10332720" cy="86868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ctr">
              <a:defRPr b="1" sz="1400">
                <a:solidFill>
                  <a:srgbClr val="00BCF2"/>
                </a:solidFill>
              </a:defRPr>
            </a:pPr>
            <a:r>
              <a:t>Chaos Engineering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Introduce Azure Chaos Studio to inject container and network faults during load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